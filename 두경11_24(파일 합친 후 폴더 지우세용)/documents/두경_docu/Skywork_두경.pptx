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1714500"/>
            <a:ext cx="114300" cy="1143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3048000"/>
            <a:ext cx="114300" cy="1143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0" y="428625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19050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250" y="333375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500" y="4762500"/>
            <a:ext cx="114300" cy="1143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2650" y="1771650"/>
            <a:ext cx="7848600" cy="19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1650" y="3105150"/>
            <a:ext cx="8229600" cy="19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24150" y="4343400"/>
            <a:ext cx="6705600" cy="19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43125" y="1781175"/>
            <a:ext cx="19050" cy="25717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62125" y="3114675"/>
            <a:ext cx="19050" cy="14287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14625" y="4352925"/>
            <a:ext cx="19050" cy="20002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72625" y="1971675"/>
            <a:ext cx="19050" cy="27622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48875" y="3400425"/>
            <a:ext cx="19050" cy="14287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82125" y="4829175"/>
            <a:ext cx="19050" cy="20002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609600"/>
            <a:ext cx="1143000" cy="5715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762000"/>
            <a:ext cx="1316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 Data Infrastructure Strategy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609600" y="1447800"/>
            <a:ext cx="1316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Security, Reliability, and Scalability</a:t>
            </a:r>
            <a:endParaRPr lang="en-US" sz="2250" dirty="0"/>
          </a:p>
        </p:txBody>
      </p:sp>
      <p:sp>
        <p:nvSpPr>
          <p:cNvPr id="22" name="Text 2"/>
          <p:cNvSpPr/>
          <p:nvPr/>
        </p:nvSpPr>
        <p:spPr>
          <a:xfrm>
            <a:off x="609600" y="2095500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04_t1_www Project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609600" y="5638800"/>
            <a:ext cx="36131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&amp; Storage Engineer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이두경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609600" y="5981700"/>
            <a:ext cx="36131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2025. 11. 24</a:t>
            </a:r>
            <a:endParaRPr lang="en-US" sz="1350" dirty="0"/>
          </a:p>
        </p:txBody>
      </p:sp>
      <p:sp>
        <p:nvSpPr>
          <p:cNvPr id="25" name="Text 5"/>
          <p:cNvSpPr/>
          <p:nvPr/>
        </p:nvSpPr>
        <p:spPr>
          <a:xfrm>
            <a:off x="10257175" y="6057900"/>
            <a:ext cx="4557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Azure</a:t>
            </a:r>
            <a:endParaRPr lang="en-US" sz="1050" dirty="0"/>
          </a:p>
        </p:txBody>
      </p:sp>
      <p:sp>
        <p:nvSpPr>
          <p:cNvPr id="26" name="Text 6"/>
          <p:cNvSpPr/>
          <p:nvPr/>
        </p:nvSpPr>
        <p:spPr>
          <a:xfrm>
            <a:off x="10813375" y="6057900"/>
            <a:ext cx="76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Terraform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1428750"/>
            <a:ext cx="3810000" cy="2857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625" y="2280196"/>
            <a:ext cx="1428750" cy="14287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650" y="2423071"/>
            <a:ext cx="26670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1625" y="2280196"/>
            <a:ext cx="1428750" cy="14287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2423071"/>
            <a:ext cx="381000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8750" y="1428750"/>
            <a:ext cx="1714500" cy="1714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3600" y="1571625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8750" y="3333750"/>
            <a:ext cx="1714500" cy="1714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1700" y="3476625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3500" y="4762500"/>
            <a:ext cx="1905000" cy="762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43250" y="2286000"/>
            <a:ext cx="1047750" cy="285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0" y="2286000"/>
            <a:ext cx="28575" cy="1524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43250" y="4191000"/>
            <a:ext cx="1047750" cy="2857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43250" y="3333750"/>
            <a:ext cx="28575" cy="8572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43250" y="2286000"/>
            <a:ext cx="114300" cy="1143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91000" y="2286000"/>
            <a:ext cx="114300" cy="1143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143250" y="4191000"/>
            <a:ext cx="114300" cy="1143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43250" y="3333750"/>
            <a:ext cx="114300" cy="1143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91250" y="3048000"/>
            <a:ext cx="3248620" cy="6096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91250" y="3429000"/>
            <a:ext cx="2413992" cy="6096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180975"/>
            <a:ext cx="23517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아키텍처 오버뷰</a:t>
            </a:r>
            <a:endParaRPr lang="en-US" sz="2100" dirty="0"/>
          </a:p>
        </p:txBody>
      </p:sp>
      <p:sp>
        <p:nvSpPr>
          <p:cNvPr id="26" name="Text 1"/>
          <p:cNvSpPr/>
          <p:nvPr/>
        </p:nvSpPr>
        <p:spPr>
          <a:xfrm>
            <a:off x="5792569" y="1571625"/>
            <a:ext cx="60686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0078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VNet</a:t>
            </a:r>
            <a:endParaRPr lang="en-US" sz="1440" dirty="0"/>
          </a:p>
        </p:txBody>
      </p:sp>
      <p:sp>
        <p:nvSpPr>
          <p:cNvPr id="27" name="Text 2"/>
          <p:cNvSpPr/>
          <p:nvPr/>
        </p:nvSpPr>
        <p:spPr>
          <a:xfrm>
            <a:off x="5524500" y="2823121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MySQL Flexible Server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5524500" y="2823121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Storage Account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1571625" y="1971675"/>
            <a:ext cx="142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Azure Front Door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1830779" y="2505075"/>
            <a:ext cx="9102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정적 파일 처리</a:t>
            </a:r>
            <a:endParaRPr lang="en-US" sz="900" dirty="0"/>
          </a:p>
        </p:txBody>
      </p:sp>
      <p:sp>
        <p:nvSpPr>
          <p:cNvPr id="31" name="Text 6"/>
          <p:cNvSpPr/>
          <p:nvPr/>
        </p:nvSpPr>
        <p:spPr>
          <a:xfrm>
            <a:off x="1660386" y="3876675"/>
            <a:ext cx="125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Redis Cache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1830779" y="4181475"/>
            <a:ext cx="9102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반복 쿼리 처리</a:t>
            </a:r>
            <a:endParaRPr lang="en-US" sz="900" dirty="0"/>
          </a:p>
        </p:txBody>
      </p:sp>
      <p:sp>
        <p:nvSpPr>
          <p:cNvPr id="33" name="Text 8"/>
          <p:cNvSpPr/>
          <p:nvPr/>
        </p:nvSpPr>
        <p:spPr>
          <a:xfrm>
            <a:off x="5310560" y="5000625"/>
            <a:ext cx="1570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Terraform (IaC)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5230550" y="5267325"/>
            <a:ext cx="1730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100% Terraform 기반 배포</a:t>
            </a:r>
            <a:endParaRPr lang="en-US" sz="900" dirty="0"/>
          </a:p>
        </p:txBody>
      </p:sp>
      <p:sp>
        <p:nvSpPr>
          <p:cNvPr id="35" name="Text 10"/>
          <p:cNvSpPr/>
          <p:nvPr/>
        </p:nvSpPr>
        <p:spPr>
          <a:xfrm>
            <a:off x="6334125" y="3143250"/>
            <a:ext cx="2962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Managed PaaS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6334125" y="3371850"/>
            <a:ext cx="35554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Azure MySQL Flexible Server &amp; Blob Storage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6334125" y="3524250"/>
            <a:ext cx="21282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6334125" y="3752850"/>
            <a:ext cx="25538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Redis Cache &amp; Azure Front Door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381000" y="6477000"/>
            <a:ext cx="31386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 Data Infrastructure Strategy</a:t>
            </a:r>
            <a:endParaRPr lang="en-US" sz="1050" dirty="0"/>
          </a:p>
        </p:txBody>
      </p:sp>
      <p:sp>
        <p:nvSpPr>
          <p:cNvPr id="40" name="Text 15"/>
          <p:cNvSpPr/>
          <p:nvPr/>
        </p:nvSpPr>
        <p:spPr>
          <a:xfrm>
            <a:off x="11511558" y="6477000"/>
            <a:ext cx="359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 / 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90" y="1676400"/>
            <a:ext cx="4937671" cy="314131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390" y="2284065"/>
            <a:ext cx="4556671" cy="23431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265" y="2760315"/>
            <a:ext cx="400050" cy="685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265" y="3684240"/>
            <a:ext cx="400050" cy="457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5761" y="2541240"/>
            <a:ext cx="304800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0290" y="1676400"/>
            <a:ext cx="4937671" cy="314131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0790" y="2284065"/>
            <a:ext cx="4556671" cy="23431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3665" y="2760315"/>
            <a:ext cx="400050" cy="685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3665" y="3684240"/>
            <a:ext cx="400050" cy="4572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2161" y="2541240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69690" y="5179665"/>
            <a:ext cx="1681311" cy="5143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07815" y="532254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71182" y="5179665"/>
            <a:ext cx="1834455" cy="5143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09307" y="5322540"/>
            <a:ext cx="228600" cy="2286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25818" y="5179665"/>
            <a:ext cx="1696343" cy="5143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63943" y="5322540"/>
            <a:ext cx="200025" cy="2286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5922615"/>
            <a:ext cx="10972800" cy="6858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180975"/>
            <a:ext cx="32146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보안 전략 및 거버넌스</a:t>
            </a:r>
            <a:endParaRPr lang="en-US" sz="2100" dirty="0"/>
          </a:p>
        </p:txBody>
      </p:sp>
      <p:sp>
        <p:nvSpPr>
          <p:cNvPr id="23" name="Text 1"/>
          <p:cNvSpPr/>
          <p:nvPr/>
        </p:nvSpPr>
        <p:spPr>
          <a:xfrm>
            <a:off x="609600" y="9906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Attack Surface(공격 표면)의 최소화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1074390" y="1866900"/>
            <a:ext cx="45566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B91C1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Public IP 사용 시</a:t>
            </a:r>
            <a:endParaRPr lang="en-US" sz="1440" dirty="0"/>
          </a:p>
        </p:txBody>
      </p:sp>
      <p:sp>
        <p:nvSpPr>
          <p:cNvPr id="25" name="Text 3"/>
          <p:cNvSpPr/>
          <p:nvPr/>
        </p:nvSpPr>
        <p:spPr>
          <a:xfrm>
            <a:off x="1217265" y="3036540"/>
            <a:ext cx="42709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해커 아이콘이 DB에 접근 가능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6105123" y="1866900"/>
            <a:ext cx="546800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04785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Private Endpoint 사용 시</a:t>
            </a:r>
            <a:endParaRPr lang="en-US" sz="1440" dirty="0"/>
          </a:p>
        </p:txBody>
      </p:sp>
      <p:sp>
        <p:nvSpPr>
          <p:cNvPr id="27" name="Text 5"/>
          <p:cNvSpPr/>
          <p:nvPr/>
        </p:nvSpPr>
        <p:spPr>
          <a:xfrm>
            <a:off x="6276573" y="3036540"/>
            <a:ext cx="51251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VNet 내부의 App Server만 DB에 연결됨</a:t>
            </a:r>
            <a:endParaRPr lang="en-US" sz="1350" dirty="0"/>
          </a:p>
        </p:txBody>
      </p:sp>
      <p:sp>
        <p:nvSpPr>
          <p:cNvPr id="28" name="Text 6"/>
          <p:cNvSpPr/>
          <p:nvPr/>
        </p:nvSpPr>
        <p:spPr>
          <a:xfrm>
            <a:off x="2131665" y="5322540"/>
            <a:ext cx="1057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Zero Trust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5733157" y="5322540"/>
            <a:ext cx="12412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Private DNS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9459218" y="5322540"/>
            <a:ext cx="11097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Encryption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762000" y="6036915"/>
            <a:ext cx="34543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Public Access Deny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762000" y="6265515"/>
            <a:ext cx="4145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0.0.0.0 (공용 접근 원천 차단)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4368701" y="6036915"/>
            <a:ext cx="345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Private Endpoint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4368701" y="6265515"/>
            <a:ext cx="345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사설 IP를 통한 데이터 접근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7975550" y="6036915"/>
            <a:ext cx="34543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Private DNS Zone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7975550" y="6265515"/>
            <a:ext cx="34543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내부 도메인 기반의 안정적 연결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381000" y="6477000"/>
            <a:ext cx="31386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 Data Infrastructure Strategy</a:t>
            </a:r>
            <a:endParaRPr lang="en-US" sz="1050" dirty="0"/>
          </a:p>
        </p:txBody>
      </p:sp>
      <p:sp>
        <p:nvSpPr>
          <p:cNvPr id="38" name="Text 16"/>
          <p:cNvSpPr/>
          <p:nvPr/>
        </p:nvSpPr>
        <p:spPr>
          <a:xfrm>
            <a:off x="11511558" y="6477000"/>
            <a:ext cx="359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 / 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409700"/>
            <a:ext cx="11430000" cy="1714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3695700"/>
            <a:ext cx="5143500" cy="14287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886200"/>
            <a:ext cx="30480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0625" y="4371975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0625" y="47434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0" y="3695700"/>
            <a:ext cx="5143500" cy="14287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0" y="38862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5625" y="43719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5625" y="4743450"/>
            <a:ext cx="13335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180975"/>
            <a:ext cx="4286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비즈니스 연속성 및 재해 복구</a:t>
            </a:r>
            <a:endParaRPr lang="en-US" sz="2100" dirty="0"/>
          </a:p>
        </p:txBody>
      </p:sp>
      <p:sp>
        <p:nvSpPr>
          <p:cNvPr id="15" name="Text 1"/>
          <p:cNvSpPr/>
          <p:nvPr/>
        </p:nvSpPr>
        <p:spPr>
          <a:xfrm>
            <a:off x="381000" y="952500"/>
            <a:ext cx="1143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RPO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78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5분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RTO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78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30분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목표의 백업 전략</a:t>
            </a:r>
            <a:endParaRPr lang="en-US" sz="1500" dirty="0"/>
          </a:p>
        </p:txBody>
      </p:sp>
      <p:sp>
        <p:nvSpPr>
          <p:cNvPr id="16" name="Text 2"/>
          <p:cNvSpPr/>
          <p:nvPr/>
        </p:nvSpPr>
        <p:spPr>
          <a:xfrm>
            <a:off x="1304925" y="3890070"/>
            <a:ext cx="262282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Korea Central (메인)</a:t>
            </a:r>
            <a:endParaRPr lang="en-US" sz="1560" dirty="0"/>
          </a:p>
        </p:txBody>
      </p:sp>
      <p:sp>
        <p:nvSpPr>
          <p:cNvPr id="17" name="Text 3"/>
          <p:cNvSpPr/>
          <p:nvPr/>
        </p:nvSpPr>
        <p:spPr>
          <a:xfrm>
            <a:off x="1419225" y="4333875"/>
            <a:ext cx="200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DB &amp; Storage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1438275" y="4705350"/>
            <a:ext cx="2594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Point-in-Time 복원: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78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최대 35일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7019925" y="3890070"/>
            <a:ext cx="2431733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Korea South (백업)</a:t>
            </a:r>
            <a:endParaRPr lang="en-US" sz="1560" dirty="0"/>
          </a:p>
        </p:txBody>
      </p:sp>
      <p:sp>
        <p:nvSpPr>
          <p:cNvPr id="20" name="Text 6"/>
          <p:cNvSpPr/>
          <p:nvPr/>
        </p:nvSpPr>
        <p:spPr>
          <a:xfrm>
            <a:off x="7153275" y="4333875"/>
            <a:ext cx="2789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GRS (Geo-Redundant Storage)</a:t>
            </a:r>
            <a:endParaRPr lang="en-US" sz="1200" dirty="0"/>
          </a:p>
        </p:txBody>
      </p:sp>
      <p:sp>
        <p:nvSpPr>
          <p:cNvPr id="21" name="Text 7"/>
          <p:cNvSpPr/>
          <p:nvPr/>
        </p:nvSpPr>
        <p:spPr>
          <a:xfrm>
            <a:off x="7134225" y="4705350"/>
            <a:ext cx="18738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Soft Delete: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78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7일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보존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381000" y="6477000"/>
            <a:ext cx="31386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 Data Infrastructure Strategy</a:t>
            </a:r>
            <a:endParaRPr lang="en-US" sz="1050" dirty="0"/>
          </a:p>
        </p:txBody>
      </p:sp>
      <p:sp>
        <p:nvSpPr>
          <p:cNvPr id="23" name="Text 9"/>
          <p:cNvSpPr/>
          <p:nvPr/>
        </p:nvSpPr>
        <p:spPr>
          <a:xfrm>
            <a:off x="11511558" y="6477000"/>
            <a:ext cx="359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 / 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333500"/>
            <a:ext cx="1905000" cy="952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1476375"/>
            <a:ext cx="381000" cy="304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2667000"/>
            <a:ext cx="1714500" cy="14287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8600" y="2809875"/>
            <a:ext cx="304800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2667000"/>
            <a:ext cx="1714500" cy="14287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4200" y="2809875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0" y="4286250"/>
            <a:ext cx="1905000" cy="9525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2650" y="4429125"/>
            <a:ext cx="26670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2286000"/>
            <a:ext cx="28575" cy="381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2286000"/>
            <a:ext cx="28575" cy="381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0" y="3381375"/>
            <a:ext cx="952500" cy="285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43500" y="3381375"/>
            <a:ext cx="28575" cy="90487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8500" y="3381375"/>
            <a:ext cx="952500" cy="2857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0" y="3381375"/>
            <a:ext cx="28575" cy="90487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0" y="2286000"/>
            <a:ext cx="114300" cy="1143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91000" y="3381375"/>
            <a:ext cx="114300" cy="1143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43500" y="3381375"/>
            <a:ext cx="114300" cy="1143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48500" y="3381375"/>
            <a:ext cx="114300" cy="1143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1000" y="3381375"/>
            <a:ext cx="114300" cy="1143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05000" y="2667000"/>
            <a:ext cx="1143000" cy="11430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96250" y="2667000"/>
            <a:ext cx="1143000" cy="11430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14098" y="4095750"/>
            <a:ext cx="1644402" cy="3810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66498" y="421005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905000" y="3810000"/>
            <a:ext cx="2260997" cy="6096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96250" y="3810000"/>
            <a:ext cx="3186113" cy="6096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81000" y="180975"/>
            <a:ext cx="32146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성능 최적화 및 확장성</a:t>
            </a:r>
            <a:endParaRPr lang="en-US" sz="2100" dirty="0"/>
          </a:p>
        </p:txBody>
      </p:sp>
      <p:sp>
        <p:nvSpPr>
          <p:cNvPr id="31" name="Text 1"/>
          <p:cNvSpPr/>
          <p:nvPr/>
        </p:nvSpPr>
        <p:spPr>
          <a:xfrm>
            <a:off x="5513070" y="18764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Traffic</a:t>
            </a:r>
            <a:endParaRPr lang="en-US" sz="1200" dirty="0"/>
          </a:p>
        </p:txBody>
      </p:sp>
      <p:sp>
        <p:nvSpPr>
          <p:cNvPr id="32" name="Text 2"/>
          <p:cNvSpPr/>
          <p:nvPr/>
        </p:nvSpPr>
        <p:spPr>
          <a:xfrm>
            <a:off x="5572199" y="2143125"/>
            <a:ext cx="10474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많은 양의 트래픽</a:t>
            </a:r>
            <a:endParaRPr lang="en-US" sz="900" dirty="0"/>
          </a:p>
        </p:txBody>
      </p:sp>
      <p:sp>
        <p:nvSpPr>
          <p:cNvPr id="33" name="Text 3"/>
          <p:cNvSpPr/>
          <p:nvPr/>
        </p:nvSpPr>
        <p:spPr>
          <a:xfrm>
            <a:off x="3476625" y="3209925"/>
            <a:ext cx="142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Azure Front Door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3735779" y="3743325"/>
            <a:ext cx="9102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정적 파일 처리</a:t>
            </a:r>
            <a:endParaRPr lang="en-US" sz="900" dirty="0"/>
          </a:p>
        </p:txBody>
      </p:sp>
      <p:sp>
        <p:nvSpPr>
          <p:cNvPr id="35" name="Text 5"/>
          <p:cNvSpPr/>
          <p:nvPr/>
        </p:nvSpPr>
        <p:spPr>
          <a:xfrm>
            <a:off x="6422886" y="3209925"/>
            <a:ext cx="125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Redis Cache</a:t>
            </a:r>
            <a:endParaRPr lang="en-US" sz="1200" dirty="0"/>
          </a:p>
        </p:txBody>
      </p:sp>
      <p:sp>
        <p:nvSpPr>
          <p:cNvPr id="36" name="Text 6"/>
          <p:cNvSpPr/>
          <p:nvPr/>
        </p:nvSpPr>
        <p:spPr>
          <a:xfrm>
            <a:off x="6593279" y="3514725"/>
            <a:ext cx="9102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반복 쿼리 처리</a:t>
            </a:r>
            <a:endParaRPr lang="en-US" sz="900" dirty="0"/>
          </a:p>
        </p:txBody>
      </p:sp>
      <p:sp>
        <p:nvSpPr>
          <p:cNvPr id="37" name="Text 7"/>
          <p:cNvSpPr/>
          <p:nvPr/>
        </p:nvSpPr>
        <p:spPr>
          <a:xfrm>
            <a:off x="5609332" y="4829175"/>
            <a:ext cx="973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8" name="Text 8"/>
          <p:cNvSpPr/>
          <p:nvPr/>
        </p:nvSpPr>
        <p:spPr>
          <a:xfrm>
            <a:off x="5639529" y="5095875"/>
            <a:ext cx="9127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최종 쓰기/읽기</a:t>
            </a:r>
            <a:endParaRPr lang="en-US" sz="900" dirty="0"/>
          </a:p>
        </p:txBody>
      </p:sp>
      <p:sp>
        <p:nvSpPr>
          <p:cNvPr id="39" name="Text 9"/>
          <p:cNvSpPr/>
          <p:nvPr/>
        </p:nvSpPr>
        <p:spPr>
          <a:xfrm>
            <a:off x="1860947" y="2723108"/>
            <a:ext cx="14775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0078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70%+</a:t>
            </a:r>
            <a:endParaRPr lang="en-US" sz="3000" dirty="0"/>
          </a:p>
        </p:txBody>
      </p:sp>
      <p:sp>
        <p:nvSpPr>
          <p:cNvPr id="40" name="Text 10"/>
          <p:cNvSpPr/>
          <p:nvPr/>
        </p:nvSpPr>
        <p:spPr>
          <a:xfrm>
            <a:off x="2047875" y="3342233"/>
            <a:ext cx="857250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백엔드 부하 감소</a:t>
            </a:r>
            <a:endParaRPr lang="en-US" sz="1080" dirty="0"/>
          </a:p>
        </p:txBody>
      </p:sp>
      <p:sp>
        <p:nvSpPr>
          <p:cNvPr id="41" name="Text 11"/>
          <p:cNvSpPr/>
          <p:nvPr/>
        </p:nvSpPr>
        <p:spPr>
          <a:xfrm>
            <a:off x="8079284" y="2825948"/>
            <a:ext cx="14124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0078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100%</a:t>
            </a:r>
            <a:endParaRPr lang="en-US" sz="3000" dirty="0"/>
          </a:p>
        </p:txBody>
      </p:sp>
      <p:sp>
        <p:nvSpPr>
          <p:cNvPr id="42" name="Text 12"/>
          <p:cNvSpPr/>
          <p:nvPr/>
        </p:nvSpPr>
        <p:spPr>
          <a:xfrm>
            <a:off x="8241462" y="3445073"/>
            <a:ext cx="852428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트래픽 처리</a:t>
            </a:r>
            <a:endParaRPr lang="en-US" sz="1080" dirty="0"/>
          </a:p>
        </p:txBody>
      </p:sp>
      <p:sp>
        <p:nvSpPr>
          <p:cNvPr id="43" name="Text 13"/>
          <p:cNvSpPr/>
          <p:nvPr/>
        </p:nvSpPr>
        <p:spPr>
          <a:xfrm>
            <a:off x="9595098" y="4171950"/>
            <a:ext cx="1333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Scale Up/Out</a:t>
            </a: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2047875" y="3905250"/>
            <a:ext cx="2370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Caching Layer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2047875" y="4133850"/>
            <a:ext cx="2370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백엔드 부하 70% 이상 감소 기대</a:t>
            </a:r>
            <a:endParaRPr lang="en-US" sz="1050" dirty="0"/>
          </a:p>
        </p:txBody>
      </p:sp>
      <p:sp>
        <p:nvSpPr>
          <p:cNvPr id="46" name="Text 16"/>
          <p:cNvSpPr/>
          <p:nvPr/>
        </p:nvSpPr>
        <p:spPr>
          <a:xfrm>
            <a:off x="8239125" y="3905250"/>
            <a:ext cx="2900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47" name="Text 17"/>
          <p:cNvSpPr/>
          <p:nvPr/>
        </p:nvSpPr>
        <p:spPr>
          <a:xfrm>
            <a:off x="8239125" y="4133850"/>
            <a:ext cx="34804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버튼 클릭으로 vCore 증설 및 Replica 추가 가능</a:t>
            </a:r>
            <a:endParaRPr lang="en-US" sz="1050" dirty="0"/>
          </a:p>
        </p:txBody>
      </p:sp>
      <p:sp>
        <p:nvSpPr>
          <p:cNvPr id="48" name="Text 18"/>
          <p:cNvSpPr/>
          <p:nvPr/>
        </p:nvSpPr>
        <p:spPr>
          <a:xfrm>
            <a:off x="381000" y="6477000"/>
            <a:ext cx="31386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 Data Infrastructure Strategy</a:t>
            </a:r>
            <a:endParaRPr lang="en-US" sz="1050" dirty="0"/>
          </a:p>
        </p:txBody>
      </p:sp>
      <p:sp>
        <p:nvSpPr>
          <p:cNvPr id="49" name="Text 19"/>
          <p:cNvSpPr/>
          <p:nvPr/>
        </p:nvSpPr>
        <p:spPr>
          <a:xfrm>
            <a:off x="11511558" y="6477000"/>
            <a:ext cx="359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 / 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047750"/>
            <a:ext cx="5562600" cy="38576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285875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288" y="1457325"/>
            <a:ext cx="257175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2047875"/>
            <a:ext cx="508635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2266950"/>
            <a:ext cx="342900" cy="3429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23622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8500" y="2266950"/>
            <a:ext cx="342900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0" y="23622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047750"/>
            <a:ext cx="5562600" cy="38576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525" y="1285875"/>
            <a:ext cx="571500" cy="571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57975" y="1457325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6525" y="2047875"/>
            <a:ext cx="5086350" cy="381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6525" y="2266950"/>
            <a:ext cx="342900" cy="3429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1775" y="23622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05900" y="2266950"/>
            <a:ext cx="342900" cy="3429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82100" y="236220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86525" y="2943225"/>
            <a:ext cx="5086350" cy="1295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38925" y="3400425"/>
            <a:ext cx="1543050" cy="6858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15200" y="35052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58175" y="3400425"/>
            <a:ext cx="1543050" cy="6858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34450" y="3505200"/>
            <a:ext cx="19050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877425" y="3400425"/>
            <a:ext cx="1543050" cy="6858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582275" y="3505200"/>
            <a:ext cx="133350" cy="1524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180975"/>
            <a:ext cx="32146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운영 및 모니터링 체계</a:t>
            </a:r>
            <a:endParaRPr lang="en-US" sz="2100" dirty="0"/>
          </a:p>
        </p:txBody>
      </p:sp>
      <p:sp>
        <p:nvSpPr>
          <p:cNvPr id="29" name="Text 1"/>
          <p:cNvSpPr/>
          <p:nvPr/>
        </p:nvSpPr>
        <p:spPr>
          <a:xfrm>
            <a:off x="1333500" y="1319213"/>
            <a:ext cx="21868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 투명성 확보</a:t>
            </a:r>
            <a:endParaRPr lang="en-US" sz="1650" dirty="0"/>
          </a:p>
        </p:txBody>
      </p:sp>
      <p:sp>
        <p:nvSpPr>
          <p:cNvPr id="30" name="Text 2"/>
          <p:cNvSpPr/>
          <p:nvPr/>
        </p:nvSpPr>
        <p:spPr>
          <a:xfrm>
            <a:off x="1333500" y="1633538"/>
            <a:ext cx="2186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Audit Logs &amp; Monitoring</a:t>
            </a:r>
            <a:endParaRPr lang="en-US" sz="1050" dirty="0"/>
          </a:p>
        </p:txBody>
      </p:sp>
      <p:sp>
        <p:nvSpPr>
          <p:cNvPr id="31" name="Text 3"/>
          <p:cNvSpPr/>
          <p:nvPr/>
        </p:nvSpPr>
        <p:spPr>
          <a:xfrm>
            <a:off x="1219200" y="2228850"/>
            <a:ext cx="15126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누가, 언제, 무엇을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1219200" y="2457450"/>
            <a:ext cx="12605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추적 가능</a:t>
            </a:r>
            <a:endParaRPr lang="en-US" sz="1050" dirty="0"/>
          </a:p>
        </p:txBody>
      </p:sp>
      <p:sp>
        <p:nvSpPr>
          <p:cNvPr id="33" name="Text 5"/>
          <p:cNvSpPr/>
          <p:nvPr/>
        </p:nvSpPr>
        <p:spPr>
          <a:xfrm>
            <a:off x="3838575" y="2228850"/>
            <a:ext cx="12135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보안 사고 추적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3838575" y="2457450"/>
            <a:ext cx="12135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모든 접근 기록</a:t>
            </a:r>
            <a:endParaRPr lang="en-US" sz="1050" dirty="0"/>
          </a:p>
        </p:txBody>
      </p:sp>
      <p:sp>
        <p:nvSpPr>
          <p:cNvPr id="35" name="Text 7"/>
          <p:cNvSpPr/>
          <p:nvPr/>
        </p:nvSpPr>
        <p:spPr>
          <a:xfrm>
            <a:off x="904875" y="2981325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접근 로그</a:t>
            </a:r>
            <a:endParaRPr lang="en-US" sz="1200" dirty="0"/>
          </a:p>
        </p:txBody>
      </p:sp>
      <p:sp>
        <p:nvSpPr>
          <p:cNvPr id="36" name="Text 8"/>
          <p:cNvSpPr/>
          <p:nvPr/>
        </p:nvSpPr>
        <p:spPr>
          <a:xfrm>
            <a:off x="904875" y="3209925"/>
            <a:ext cx="480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데이터베이스 및 스토리지 접근 이력 기록</a:t>
            </a:r>
            <a:endParaRPr lang="en-US" sz="1050" dirty="0"/>
          </a:p>
        </p:txBody>
      </p:sp>
      <p:sp>
        <p:nvSpPr>
          <p:cNvPr id="37" name="Text 9"/>
          <p:cNvSpPr/>
          <p:nvPr/>
        </p:nvSpPr>
        <p:spPr>
          <a:xfrm>
            <a:off x="904875" y="354330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변경 로그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904875" y="3771900"/>
            <a:ext cx="480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 수정 및 삭제 이력 추적</a:t>
            </a:r>
            <a:endParaRPr lang="en-US" sz="1050" dirty="0"/>
          </a:p>
        </p:txBody>
      </p:sp>
      <p:sp>
        <p:nvSpPr>
          <p:cNvPr id="39" name="Text 11"/>
          <p:cNvSpPr/>
          <p:nvPr/>
        </p:nvSpPr>
        <p:spPr>
          <a:xfrm>
            <a:off x="904875" y="4105275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실패 로그</a:t>
            </a:r>
            <a:endParaRPr lang="en-US" sz="1200" dirty="0"/>
          </a:p>
        </p:txBody>
      </p:sp>
      <p:sp>
        <p:nvSpPr>
          <p:cNvPr id="40" name="Text 12"/>
          <p:cNvSpPr/>
          <p:nvPr/>
        </p:nvSpPr>
        <p:spPr>
          <a:xfrm>
            <a:off x="904875" y="4333875"/>
            <a:ext cx="480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접근 거부 및 실패 상황 모니터링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7200900" y="1319213"/>
            <a:ext cx="282267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TCO(총 소유 비용) 절감</a:t>
            </a:r>
            <a:endParaRPr lang="en-US" sz="1650" dirty="0"/>
          </a:p>
        </p:txBody>
      </p:sp>
      <p:sp>
        <p:nvSpPr>
          <p:cNvPr id="42" name="Text 14"/>
          <p:cNvSpPr/>
          <p:nvPr/>
        </p:nvSpPr>
        <p:spPr>
          <a:xfrm>
            <a:off x="7200900" y="1633538"/>
            <a:ext cx="2822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Lifecycle Management</a:t>
            </a:r>
            <a:endParaRPr lang="en-US" sz="1050" dirty="0"/>
          </a:p>
        </p:txBody>
      </p:sp>
      <p:sp>
        <p:nvSpPr>
          <p:cNvPr id="43" name="Text 15"/>
          <p:cNvSpPr/>
          <p:nvPr/>
        </p:nvSpPr>
        <p:spPr>
          <a:xfrm>
            <a:off x="7086600" y="2228850"/>
            <a:ext cx="1579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스토리지 자동 증가</a:t>
            </a:r>
            <a:endParaRPr lang="en-US" sz="1200" dirty="0"/>
          </a:p>
        </p:txBody>
      </p:sp>
      <p:sp>
        <p:nvSpPr>
          <p:cNvPr id="44" name="Text 16"/>
          <p:cNvSpPr/>
          <p:nvPr/>
        </p:nvSpPr>
        <p:spPr>
          <a:xfrm>
            <a:off x="7086600" y="2457450"/>
            <a:ext cx="15793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필요 시 자동 확장</a:t>
            </a:r>
            <a:endParaRPr lang="en-US" sz="1050" dirty="0"/>
          </a:p>
        </p:txBody>
      </p:sp>
      <p:sp>
        <p:nvSpPr>
          <p:cNvPr id="45" name="Text 17"/>
          <p:cNvSpPr/>
          <p:nvPr/>
        </p:nvSpPr>
        <p:spPr>
          <a:xfrm>
            <a:off x="9705975" y="2228850"/>
            <a:ext cx="1381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수명주기 관리</a:t>
            </a:r>
            <a:endParaRPr lang="en-US" sz="1200" dirty="0"/>
          </a:p>
        </p:txBody>
      </p:sp>
      <p:sp>
        <p:nvSpPr>
          <p:cNvPr id="46" name="Text 18"/>
          <p:cNvSpPr/>
          <p:nvPr/>
        </p:nvSpPr>
        <p:spPr>
          <a:xfrm>
            <a:off x="9705975" y="2457450"/>
            <a:ext cx="1381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불필요한 비용 감소</a:t>
            </a:r>
            <a:endParaRPr lang="en-US" sz="1050" dirty="0"/>
          </a:p>
        </p:txBody>
      </p:sp>
      <p:sp>
        <p:nvSpPr>
          <p:cNvPr id="47" name="Text 19"/>
          <p:cNvSpPr/>
          <p:nvPr/>
        </p:nvSpPr>
        <p:spPr>
          <a:xfrm>
            <a:off x="6638925" y="3095625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스토리지 수명주기 정책</a:t>
            </a:r>
            <a:endParaRPr lang="en-US" sz="1200" dirty="0"/>
          </a:p>
        </p:txBody>
      </p:sp>
      <p:sp>
        <p:nvSpPr>
          <p:cNvPr id="48" name="Text 20"/>
          <p:cNvSpPr/>
          <p:nvPr/>
        </p:nvSpPr>
        <p:spPr>
          <a:xfrm>
            <a:off x="6715125" y="3705225"/>
            <a:ext cx="1390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Hot</a:t>
            </a:r>
            <a:endParaRPr lang="en-US" sz="900" dirty="0"/>
          </a:p>
        </p:txBody>
      </p:sp>
      <p:sp>
        <p:nvSpPr>
          <p:cNvPr id="49" name="Text 21"/>
          <p:cNvSpPr/>
          <p:nvPr/>
        </p:nvSpPr>
        <p:spPr>
          <a:xfrm>
            <a:off x="6715125" y="3857625"/>
            <a:ext cx="1390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최근 접근</a:t>
            </a:r>
            <a:endParaRPr lang="en-US" sz="900" dirty="0"/>
          </a:p>
        </p:txBody>
      </p:sp>
      <p:sp>
        <p:nvSpPr>
          <p:cNvPr id="50" name="Text 22"/>
          <p:cNvSpPr/>
          <p:nvPr/>
        </p:nvSpPr>
        <p:spPr>
          <a:xfrm>
            <a:off x="8334375" y="3705225"/>
            <a:ext cx="1390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Cool</a:t>
            </a:r>
            <a:endParaRPr lang="en-US" sz="900" dirty="0"/>
          </a:p>
        </p:txBody>
      </p:sp>
      <p:sp>
        <p:nvSpPr>
          <p:cNvPr id="51" name="Text 23"/>
          <p:cNvSpPr/>
          <p:nvPr/>
        </p:nvSpPr>
        <p:spPr>
          <a:xfrm>
            <a:off x="8334375" y="3857625"/>
            <a:ext cx="1390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자주 접근</a:t>
            </a:r>
            <a:endParaRPr lang="en-US" sz="900" dirty="0"/>
          </a:p>
        </p:txBody>
      </p:sp>
      <p:sp>
        <p:nvSpPr>
          <p:cNvPr id="52" name="Text 24"/>
          <p:cNvSpPr/>
          <p:nvPr/>
        </p:nvSpPr>
        <p:spPr>
          <a:xfrm>
            <a:off x="9953625" y="3705225"/>
            <a:ext cx="1390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Archive</a:t>
            </a:r>
            <a:endParaRPr lang="en-US" sz="900" dirty="0"/>
          </a:p>
        </p:txBody>
      </p:sp>
      <p:sp>
        <p:nvSpPr>
          <p:cNvPr id="53" name="Text 25"/>
          <p:cNvSpPr/>
          <p:nvPr/>
        </p:nvSpPr>
        <p:spPr>
          <a:xfrm>
            <a:off x="9953625" y="3857625"/>
            <a:ext cx="1390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rar 접근</a:t>
            </a:r>
            <a:endParaRPr lang="en-US" sz="900" dirty="0"/>
          </a:p>
        </p:txBody>
      </p:sp>
      <p:sp>
        <p:nvSpPr>
          <p:cNvPr id="54" name="Text 26"/>
          <p:cNvSpPr/>
          <p:nvPr/>
        </p:nvSpPr>
        <p:spPr>
          <a:xfrm>
            <a:off x="381000" y="6477000"/>
            <a:ext cx="31386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 Data Infrastructure Strategy</a:t>
            </a:r>
            <a:endParaRPr lang="en-US" sz="1050" dirty="0"/>
          </a:p>
        </p:txBody>
      </p:sp>
      <p:sp>
        <p:nvSpPr>
          <p:cNvPr id="55" name="Text 27"/>
          <p:cNvSpPr/>
          <p:nvPr/>
        </p:nvSpPr>
        <p:spPr>
          <a:xfrm>
            <a:off x="11511558" y="6477000"/>
            <a:ext cx="359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 / 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04950"/>
            <a:ext cx="3429000" cy="2857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95450"/>
            <a:ext cx="3048000" cy="4762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9545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8097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35267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0384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057650"/>
            <a:ext cx="3048000" cy="4762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3350" y="3352800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1500" y="1504950"/>
            <a:ext cx="3429000" cy="2857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1695450"/>
            <a:ext cx="3048000" cy="4762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0" y="169545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05350" y="1809750"/>
            <a:ext cx="1143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0" y="2466975"/>
            <a:ext cx="13335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0" y="3267075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0" y="4057650"/>
            <a:ext cx="3048000" cy="4762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43850" y="3352800"/>
            <a:ext cx="304800" cy="304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0" y="1504950"/>
            <a:ext cx="3429000" cy="28575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72500" y="1695450"/>
            <a:ext cx="3048000" cy="4762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72500" y="1695450"/>
            <a:ext cx="381000" cy="3810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86800" y="180975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72500" y="2352675"/>
            <a:ext cx="13335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572500" y="3038475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72500" y="3886200"/>
            <a:ext cx="3048000" cy="28575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1000" y="4552950"/>
            <a:ext cx="11430000" cy="78105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23875" y="4810125"/>
            <a:ext cx="219075" cy="2667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81000" y="180975"/>
            <a:ext cx="31032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아키텍처 최적화 사례</a:t>
            </a:r>
            <a:endParaRPr lang="en-US" sz="2100" dirty="0"/>
          </a:p>
        </p:txBody>
      </p:sp>
      <p:sp>
        <p:nvSpPr>
          <p:cNvPr id="31" name="Text 1"/>
          <p:cNvSpPr/>
          <p:nvPr/>
        </p:nvSpPr>
        <p:spPr>
          <a:xfrm>
            <a:off x="381000" y="1047750"/>
            <a:ext cx="1143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리전 할당량 제한 극복을 위한 하이브리드 DR 전략 도출</a:t>
            </a:r>
            <a:endParaRPr lang="en-US" sz="1350" dirty="0"/>
          </a:p>
        </p:txBody>
      </p:sp>
      <p:sp>
        <p:nvSpPr>
          <p:cNvPr id="32" name="Text 2"/>
          <p:cNvSpPr/>
          <p:nvPr/>
        </p:nvSpPr>
        <p:spPr>
          <a:xfrm>
            <a:off x="1095375" y="1752600"/>
            <a:ext cx="10726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</a:t>
            </a:r>
            <a:endParaRPr lang="en-US" sz="1500" dirty="0"/>
          </a:p>
        </p:txBody>
      </p:sp>
      <p:sp>
        <p:nvSpPr>
          <p:cNvPr id="33" name="Text 3"/>
          <p:cNvSpPr/>
          <p:nvPr/>
        </p:nvSpPr>
        <p:spPr>
          <a:xfrm>
            <a:off x="800100" y="2314575"/>
            <a:ext cx="14074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리전 할당량 제한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800100" y="2619375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Korea South 리전에 vCPU 할당량 부족</a:t>
            </a:r>
            <a:endParaRPr lang="en-US" sz="1200" dirty="0"/>
          </a:p>
        </p:txBody>
      </p:sp>
      <p:sp>
        <p:nvSpPr>
          <p:cNvPr id="35" name="Text 5"/>
          <p:cNvSpPr/>
          <p:nvPr/>
        </p:nvSpPr>
        <p:spPr>
          <a:xfrm>
            <a:off x="800100" y="3000375"/>
            <a:ext cx="24706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교차 리전 Replica 생성 불가</a:t>
            </a:r>
            <a:endParaRPr lang="en-US" sz="1200" dirty="0"/>
          </a:p>
        </p:txBody>
      </p:sp>
      <p:sp>
        <p:nvSpPr>
          <p:cNvPr id="36" name="Text 6"/>
          <p:cNvSpPr/>
          <p:nvPr/>
        </p:nvSpPr>
        <p:spPr>
          <a:xfrm>
            <a:off x="800100" y="3305175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planned cross-region DB replication 불가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571500" y="41529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"리전 할당량 제한으로 인해 계획했던 교차 리전 DB 복제가 불가능한 상황"</a:t>
            </a:r>
            <a:endParaRPr lang="en-US" sz="1050" dirty="0"/>
          </a:p>
        </p:txBody>
      </p:sp>
      <p:sp>
        <p:nvSpPr>
          <p:cNvPr id="38" name="Text 8"/>
          <p:cNvSpPr/>
          <p:nvPr/>
        </p:nvSpPr>
        <p:spPr>
          <a:xfrm>
            <a:off x="5095875" y="1752600"/>
            <a:ext cx="10929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</a:t>
            </a:r>
            <a:endParaRPr lang="en-US" sz="1500" dirty="0"/>
          </a:p>
        </p:txBody>
      </p:sp>
      <p:sp>
        <p:nvSpPr>
          <p:cNvPr id="39" name="Text 9"/>
          <p:cNvSpPr/>
          <p:nvPr/>
        </p:nvSpPr>
        <p:spPr>
          <a:xfrm>
            <a:off x="4781550" y="2314575"/>
            <a:ext cx="2838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Computing vs Data Durability 분리</a:t>
            </a:r>
            <a:endParaRPr lang="en-US" sz="1200" dirty="0"/>
          </a:p>
        </p:txBody>
      </p:sp>
      <p:sp>
        <p:nvSpPr>
          <p:cNvPr id="40" name="Text 10"/>
          <p:cNvSpPr/>
          <p:nvPr/>
        </p:nvSpPr>
        <p:spPr>
          <a:xfrm>
            <a:off x="4800600" y="2847975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가용성과 데이터 내구성 접근 방식 분리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4838700" y="3228975"/>
            <a:ext cx="1352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Trade-off 분석</a:t>
            </a:r>
            <a:endParaRPr lang="en-US" sz="1200" dirty="0"/>
          </a:p>
        </p:txBody>
      </p:sp>
      <p:sp>
        <p:nvSpPr>
          <p:cNvPr id="42" name="Text 12"/>
          <p:cNvSpPr/>
          <p:nvPr/>
        </p:nvSpPr>
        <p:spPr>
          <a:xfrm>
            <a:off x="4800600" y="3533775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리전 제한 내에서 최적의 안정성 도출</a:t>
            </a:r>
            <a:endParaRPr lang="en-US" sz="1200" dirty="0"/>
          </a:p>
        </p:txBody>
      </p:sp>
      <p:sp>
        <p:nvSpPr>
          <p:cNvPr id="43" name="Text 13"/>
          <p:cNvSpPr/>
          <p:nvPr/>
        </p:nvSpPr>
        <p:spPr>
          <a:xfrm>
            <a:off x="4572000" y="41529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"데이터 내구성이라는 본질에 집중하여 하이브리드 전략 개발"</a:t>
            </a:r>
            <a:endParaRPr lang="en-US" sz="1050" dirty="0"/>
          </a:p>
        </p:txBody>
      </p:sp>
      <p:sp>
        <p:nvSpPr>
          <p:cNvPr id="44" name="Text 14"/>
          <p:cNvSpPr/>
          <p:nvPr/>
        </p:nvSpPr>
        <p:spPr>
          <a:xfrm>
            <a:off x="9096375" y="1752600"/>
            <a:ext cx="10703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Solution</a:t>
            </a:r>
            <a:endParaRPr lang="en-US" sz="1500" dirty="0"/>
          </a:p>
        </p:txBody>
      </p:sp>
      <p:sp>
        <p:nvSpPr>
          <p:cNvPr id="45" name="Text 15"/>
          <p:cNvSpPr/>
          <p:nvPr/>
        </p:nvSpPr>
        <p:spPr>
          <a:xfrm>
            <a:off x="8782050" y="2314575"/>
            <a:ext cx="20398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DB: 동일 리전 Replica</a:t>
            </a:r>
            <a:endParaRPr lang="en-US" sz="1200" dirty="0"/>
          </a:p>
        </p:txBody>
      </p:sp>
      <p:sp>
        <p:nvSpPr>
          <p:cNvPr id="46" name="Text 16"/>
          <p:cNvSpPr/>
          <p:nvPr/>
        </p:nvSpPr>
        <p:spPr>
          <a:xfrm>
            <a:off x="8801100" y="2619375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Local HA 구성으로 가용성 확보</a:t>
            </a:r>
            <a:endParaRPr lang="en-US" sz="1200" dirty="0"/>
          </a:p>
        </p:txBody>
      </p:sp>
      <p:sp>
        <p:nvSpPr>
          <p:cNvPr id="47" name="Text 17"/>
          <p:cNvSpPr/>
          <p:nvPr/>
        </p:nvSpPr>
        <p:spPr>
          <a:xfrm>
            <a:off x="8839200" y="3000375"/>
            <a:ext cx="1802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Storage: GRS 유지</a:t>
            </a:r>
            <a:endParaRPr lang="en-US" sz="1200" dirty="0"/>
          </a:p>
        </p:txBody>
      </p:sp>
      <p:sp>
        <p:nvSpPr>
          <p:cNvPr id="48" name="Text 18"/>
          <p:cNvSpPr/>
          <p:nvPr/>
        </p:nvSpPr>
        <p:spPr>
          <a:xfrm>
            <a:off x="8801100" y="3305175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지리적 재해 대비로 데이터 보호</a:t>
            </a:r>
            <a:endParaRPr lang="en-US" sz="1200" dirty="0"/>
          </a:p>
        </p:txBody>
      </p:sp>
      <p:sp>
        <p:nvSpPr>
          <p:cNvPr id="49" name="Text 19"/>
          <p:cNvSpPr/>
          <p:nvPr/>
        </p:nvSpPr>
        <p:spPr>
          <a:xfrm>
            <a:off x="8572500" y="3981450"/>
            <a:ext cx="365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"하이브리드 DR 전략으로 리전 제약 극복"</a:t>
            </a:r>
            <a:endParaRPr lang="en-US" sz="1050" dirty="0"/>
          </a:p>
        </p:txBody>
      </p:sp>
      <p:sp>
        <p:nvSpPr>
          <p:cNvPr id="50" name="Text 20"/>
          <p:cNvSpPr/>
          <p:nvPr/>
        </p:nvSpPr>
        <p:spPr>
          <a:xfrm>
            <a:off x="857250" y="4695825"/>
            <a:ext cx="4265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결과: Hybrid DR Strategy</a:t>
            </a:r>
            <a:endParaRPr lang="en-US" sz="1350" dirty="0"/>
          </a:p>
        </p:txBody>
      </p:sp>
      <p:sp>
        <p:nvSpPr>
          <p:cNvPr id="51" name="Text 21"/>
          <p:cNvSpPr/>
          <p:nvPr/>
        </p:nvSpPr>
        <p:spPr>
          <a:xfrm>
            <a:off x="857250" y="4962525"/>
            <a:ext cx="4265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Local HA + Geo Storage로 리전 할당량 제한 극복</a:t>
            </a:r>
            <a:endParaRPr lang="en-US" sz="1200" dirty="0"/>
          </a:p>
        </p:txBody>
      </p:sp>
      <p:sp>
        <p:nvSpPr>
          <p:cNvPr id="52" name="Text 22"/>
          <p:cNvSpPr/>
          <p:nvPr/>
        </p:nvSpPr>
        <p:spPr>
          <a:xfrm>
            <a:off x="381000" y="6477000"/>
            <a:ext cx="31386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 Data Infrastructure Strategy</a:t>
            </a:r>
            <a:endParaRPr lang="en-US" sz="1050" dirty="0"/>
          </a:p>
        </p:txBody>
      </p:sp>
      <p:sp>
        <p:nvSpPr>
          <p:cNvPr id="53" name="Text 23"/>
          <p:cNvSpPr/>
          <p:nvPr/>
        </p:nvSpPr>
        <p:spPr>
          <a:xfrm>
            <a:off x="11511558" y="6477000"/>
            <a:ext cx="359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 / 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676400"/>
            <a:ext cx="1905000" cy="1905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676400"/>
            <a:ext cx="1905000" cy="1905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625" y="2819400"/>
            <a:ext cx="1905000" cy="1905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3295650"/>
            <a:ext cx="1610320" cy="381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1676400"/>
            <a:ext cx="5334000" cy="1181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0" y="1866900"/>
            <a:ext cx="456307" cy="571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1354" y="200025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3009900"/>
            <a:ext cx="5334000" cy="11811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0" y="3200400"/>
            <a:ext cx="428476" cy="571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7364" y="333375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4343400"/>
            <a:ext cx="5334000" cy="11811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7500" y="4533900"/>
            <a:ext cx="362843" cy="571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34621" y="466725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180975"/>
            <a:ext cx="257460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결론 및 기대 효과</a:t>
            </a:r>
            <a:endParaRPr lang="en-US" sz="2100" dirty="0"/>
          </a:p>
        </p:txBody>
      </p:sp>
      <p:sp>
        <p:nvSpPr>
          <p:cNvPr id="19" name="Text 1"/>
          <p:cNvSpPr/>
          <p:nvPr/>
        </p:nvSpPr>
        <p:spPr>
          <a:xfrm>
            <a:off x="381000" y="11430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엔터프라이즈급 데이터 플랫폼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1455420" y="2609850"/>
            <a:ext cx="708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Secure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1514475" y="2876550"/>
            <a:ext cx="590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보안</a:t>
            </a:r>
            <a:endParaRPr lang="en-US" sz="900" dirty="0"/>
          </a:p>
        </p:txBody>
      </p:sp>
      <p:sp>
        <p:nvSpPr>
          <p:cNvPr id="22" name="Text 4"/>
          <p:cNvSpPr/>
          <p:nvPr/>
        </p:nvSpPr>
        <p:spPr>
          <a:xfrm>
            <a:off x="2822749" y="2609850"/>
            <a:ext cx="831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Reliable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2892028" y="2876550"/>
            <a:ext cx="6927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안정</a:t>
            </a:r>
            <a:endParaRPr lang="en-US" sz="900" dirty="0"/>
          </a:p>
        </p:txBody>
      </p:sp>
      <p:sp>
        <p:nvSpPr>
          <p:cNvPr id="24" name="Text 6"/>
          <p:cNvSpPr/>
          <p:nvPr/>
        </p:nvSpPr>
        <p:spPr>
          <a:xfrm>
            <a:off x="2090499" y="3752850"/>
            <a:ext cx="867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Scalable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2162770" y="4019550"/>
            <a:ext cx="7227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확장성</a:t>
            </a:r>
            <a:endParaRPr lang="en-US" sz="900" dirty="0"/>
          </a:p>
        </p:txBody>
      </p:sp>
      <p:sp>
        <p:nvSpPr>
          <p:cNvPr id="26" name="Text 8"/>
          <p:cNvSpPr/>
          <p:nvPr/>
        </p:nvSpPr>
        <p:spPr>
          <a:xfrm>
            <a:off x="1962150" y="3295650"/>
            <a:ext cx="1932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 Ready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6477000" y="11430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비즈니스 기대 효과</a:t>
            </a:r>
            <a:endParaRPr lang="en-US" sz="1800" dirty="0"/>
          </a:p>
        </p:txBody>
      </p:sp>
      <p:sp>
        <p:nvSpPr>
          <p:cNvPr id="28" name="Text 10"/>
          <p:cNvSpPr/>
          <p:nvPr/>
        </p:nvSpPr>
        <p:spPr>
          <a:xfrm>
            <a:off x="7276207" y="1866900"/>
            <a:ext cx="43442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Risk Minimized</a:t>
            </a:r>
            <a:endParaRPr lang="en-US" sz="1500" dirty="0"/>
          </a:p>
        </p:txBody>
      </p:sp>
      <p:sp>
        <p:nvSpPr>
          <p:cNvPr id="29" name="Text 11"/>
          <p:cNvSpPr/>
          <p:nvPr/>
        </p:nvSpPr>
        <p:spPr>
          <a:xfrm>
            <a:off x="7276207" y="2209800"/>
            <a:ext cx="4344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 유실 가능성 최소화. Zero Data Loss 워크로드도 지원 가능하도록 설계.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7248376" y="3200400"/>
            <a:ext cx="4372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Optimized</a:t>
            </a:r>
            <a:endParaRPr lang="en-US" sz="1500" dirty="0"/>
          </a:p>
        </p:txBody>
      </p:sp>
      <p:sp>
        <p:nvSpPr>
          <p:cNvPr id="31" name="Text 13"/>
          <p:cNvSpPr/>
          <p:nvPr/>
        </p:nvSpPr>
        <p:spPr>
          <a:xfrm>
            <a:off x="7248376" y="3543300"/>
            <a:ext cx="437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TCO(총 소유 비용) 절감. 스토리지 자동 증가 및 수명주기 관리로 불필요한 비용 감소.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7182743" y="4533900"/>
            <a:ext cx="44377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 Proof</a:t>
            </a:r>
            <a:endParaRPr lang="en-US" sz="1500" dirty="0"/>
          </a:p>
        </p:txBody>
      </p:sp>
      <p:sp>
        <p:nvSpPr>
          <p:cNvPr id="33" name="Text 15"/>
          <p:cNvSpPr/>
          <p:nvPr/>
        </p:nvSpPr>
        <p:spPr>
          <a:xfrm>
            <a:off x="7182743" y="4876800"/>
            <a:ext cx="44377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성장에 제약 없는 인프라. 교차 리전 복제 및 하이브리드 DR 전략으로 지속 가능한 비즈니스 확장 지원.</a:t>
            </a:r>
            <a:endParaRPr lang="en-US" sz="1200" dirty="0"/>
          </a:p>
        </p:txBody>
      </p:sp>
      <p:sp>
        <p:nvSpPr>
          <p:cNvPr id="34" name="Text 16"/>
          <p:cNvSpPr/>
          <p:nvPr/>
        </p:nvSpPr>
        <p:spPr>
          <a:xfrm>
            <a:off x="381000" y="6477000"/>
            <a:ext cx="31386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 Data Infrastructure Strategy</a:t>
            </a:r>
            <a:endParaRPr lang="en-US" sz="1050" dirty="0"/>
          </a:p>
        </p:txBody>
      </p:sp>
      <p:sp>
        <p:nvSpPr>
          <p:cNvPr id="35" name="Text 17"/>
          <p:cNvSpPr/>
          <p:nvPr/>
        </p:nvSpPr>
        <p:spPr>
          <a:xfrm>
            <a:off x="11511558" y="6477000"/>
            <a:ext cx="359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 / 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2025-11-24T06:10:19Z</dcterms:created>
  <dcterms:modified xsi:type="dcterms:W3CDTF">2025-11-24T06:10:19Z</dcterms:modified>
</cp:coreProperties>
</file>
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Noto Sans KR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AB3D23-C864-4103-AEC8-098441306037}">
  <a:tblStyle styleId="{F7AB3D23-C864-4103-AEC8-09844130603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NotoSansKR-bold.fntdata"/><Relationship Id="rId27" Type="http://schemas.openxmlformats.org/officeDocument/2006/relationships/font" Target="fonts/NotoSansK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b0dd74953b_2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b0dd74953b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6.png"/><Relationship Id="rId4" Type="http://schemas.openxmlformats.org/officeDocument/2006/relationships/image" Target="../media/image25.png"/><Relationship Id="rId5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35.png"/><Relationship Id="rId5" Type="http://schemas.openxmlformats.org/officeDocument/2006/relationships/image" Target="../media/image29.png"/><Relationship Id="rId6" Type="http://schemas.openxmlformats.org/officeDocument/2006/relationships/image" Target="../media/image23.png"/><Relationship Id="rId7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27.png"/><Relationship Id="rId7" Type="http://schemas.openxmlformats.org/officeDocument/2006/relationships/image" Target="../media/image3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jpg"/><Relationship Id="rId4" Type="http://schemas.openxmlformats.org/officeDocument/2006/relationships/image" Target="../media/image42.jpg"/><Relationship Id="rId5" Type="http://schemas.openxmlformats.org/officeDocument/2006/relationships/image" Target="../media/image26.jpg"/><Relationship Id="rId6" Type="http://schemas.openxmlformats.org/officeDocument/2006/relationships/image" Target="../media/image4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4.png"/><Relationship Id="rId4" Type="http://schemas.openxmlformats.org/officeDocument/2006/relationships/image" Target="../media/image4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24387"/>
            <a:ext cx="6773465" cy="63043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603176"/>
            <a:ext cx="7112138" cy="1657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Azure 클라우드 행위기반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보안탐지 및 대응 보고서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565326"/>
            <a:ext cx="677346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통합 보안 운영 플랫폼 검증 및 위협 대응 시나리오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919662"/>
            <a:ext cx="677346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1팀 | 팀장: 이하연 | 팀원: 정현지, 이두경, 배하영, 이기훈, 신윤철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78D4"/>
                </a:solidFill>
                <a:latin typeface="Noto Sans KR"/>
                <a:ea typeface="Noto Sans KR"/>
                <a:cs typeface="Noto Sans KR"/>
                <a:sym typeface="Noto Sans KR"/>
              </a:rPr>
              <a:t>목차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71500" y="1152525"/>
            <a:ext cx="11049000" cy="28575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33425" y="3255823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09625" y="3254871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1. 개요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33425" y="3733859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09625" y="3732907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2. 보안 아키텍처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33425" y="4211895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09625" y="4210942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3. 데이터 분석 기술 (KQL &amp; Visualization)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496050" y="3255823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572250" y="3254871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4. 개별 위협 탐지 사례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496050" y="3733859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72250" y="3732907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5. MITRE ATT&amp;CK 종합 시나리오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496050" y="4211895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572250" y="4210942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6. 자동화 대응(SOAR) 및 결론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78D4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개요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1152525"/>
            <a:ext cx="11049000" cy="28575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2645271"/>
            <a:ext cx="5550693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78D4"/>
                </a:solidFill>
                <a:latin typeface="Noto Sans KR"/>
                <a:ea typeface="Noto Sans KR"/>
                <a:cs typeface="Noto Sans KR"/>
                <a:sym typeface="Noto Sans KR"/>
              </a:rPr>
              <a:t>"뚫으려는 시도를 어떻게 탐지하고, 대응했는가?"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33425" y="3865423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09625" y="3864471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검증 대상: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Defender XDR, Sentinel, SOAR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33425" y="4343459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09625" y="4342507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배경: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2025년 7월 통합 플랫폼 전환 시도 및 기능 검증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33425" y="4821495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09625" y="4820542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목표: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통합 보안 태세 확립 및 대응 능력 검증</a:t>
            </a:r>
            <a:endParaRPr/>
          </a:p>
        </p:txBody>
      </p:sp>
      <p:pic>
        <p:nvPicPr>
          <p:cNvPr id="120" name="Google Shape;12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4999" y="1557950"/>
            <a:ext cx="6083876" cy="206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5725" y="3773300"/>
            <a:ext cx="6083875" cy="2256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82880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78D4"/>
                </a:solidFill>
                <a:latin typeface="Noto Sans KR"/>
                <a:ea typeface="Noto Sans KR"/>
                <a:cs typeface="Noto Sans KR"/>
                <a:sym typeface="Noto Sans KR"/>
              </a:rPr>
              <a:t>통합 플랫폼 구축 시도 및 이슈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71500" y="1152525"/>
            <a:ext cx="11049000" cy="28575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2428279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4578"/>
                </a:solidFill>
                <a:latin typeface="Noto Sans KR"/>
                <a:ea typeface="Noto Sans KR"/>
                <a:cs typeface="Noto Sans KR"/>
                <a:sym typeface="Noto Sans KR"/>
              </a:rPr>
              <a:t>단일 포털 통합 실패</a:t>
            </a:r>
            <a:endParaRPr/>
          </a:p>
        </p:txBody>
      </p:sp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20471" y="1838473"/>
            <a:ext cx="2313682" cy="426690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733425" y="2934057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09625" y="2933104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목표: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Sentinel 작업 영역과 Defender XDR의 단일 포털 통합 시도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33425" y="3747254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09625" y="3746301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결과: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i="0" lang="en-US" sz="1650" u="none" cap="none" strike="noStrike">
                <a:solidFill>
                  <a:srgbClr val="D83B01"/>
                </a:solidFill>
                <a:latin typeface="Noto Sans KR"/>
                <a:ea typeface="Noto Sans KR"/>
                <a:cs typeface="Noto Sans KR"/>
                <a:sym typeface="Noto Sans KR"/>
              </a:rPr>
              <a:t>연결 실패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33425" y="4225290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09625" y="4224337"/>
            <a:ext cx="5048250" cy="1148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원인: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923925" y="456045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○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047750" y="4559498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전역 관리자 권한 부재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923925" y="5038486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○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047750" y="5037534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라이선스 제한(Entra ID P2 미보유)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"/>
          <p:cNvSpPr txBox="1"/>
          <p:nvPr/>
        </p:nvSpPr>
        <p:spPr>
          <a:xfrm>
            <a:off x="571500" y="1337667"/>
            <a:ext cx="52006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78D4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보안 운영 아키텍처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71500" y="2013942"/>
            <a:ext cx="4953000" cy="28575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2233017"/>
            <a:ext cx="5200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하이브리드 모드 (Hybrid Mode)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2890242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통합 이슈로 인해 견고한 </a:t>
            </a: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하이브리드 모드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아키텍처를 수립했습니다.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33425" y="3894891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09625" y="3893939"/>
            <a:ext cx="47148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해결: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개별 솔루션 연동을 통한 관제 체계 구축 성공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09625" y="4707135"/>
            <a:ext cx="4714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흐름: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Defender for Cloud     (Legacy Connector)    Sentinel</a:t>
            </a:r>
            <a:endParaRPr/>
          </a:p>
        </p:txBody>
      </p:sp>
      <p:pic>
        <p:nvPicPr>
          <p:cNvPr descr="image.png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9752" y="4703026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4553" y="5089921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title="secu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4550" y="546863"/>
            <a:ext cx="6115050" cy="5764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 title="detec07.jpg"/>
          <p:cNvPicPr preferRelativeResize="0"/>
          <p:nvPr/>
        </p:nvPicPr>
        <p:blipFill rotWithShape="1">
          <a:blip r:embed="rId3">
            <a:alphaModFix/>
          </a:blip>
          <a:srcRect b="0" l="298" r="308" t="0"/>
          <a:stretch/>
        </p:blipFill>
        <p:spPr>
          <a:xfrm>
            <a:off x="6334125" y="1828800"/>
            <a:ext cx="5286374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34780"/>
            <a:ext cx="5286375" cy="112752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78D4"/>
                </a:solidFill>
                <a:latin typeface="Noto Sans KR"/>
                <a:ea typeface="Noto Sans KR"/>
                <a:cs typeface="Noto Sans KR"/>
                <a:sym typeface="Noto Sans KR"/>
              </a:rPr>
              <a:t>기술적 기반: KQL 기초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71500" y="1152525"/>
            <a:ext cx="11049000" cy="28575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2381547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4578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분석 및 필터링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2953047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KQL은 Azure 로그 데이터 분석의 핵심 엔진입니다.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733425" y="3432036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809625" y="3431083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역할: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Azure 로그 데이터 분석, 필터링, 시각화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733425" y="391007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09625" y="3909119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활용 예시: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로그인 실패 요약, 다중 테이블 조인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82880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78D4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시각화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571500" y="1152525"/>
            <a:ext cx="11049000" cy="28575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571500" y="2667297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4578"/>
                </a:solidFill>
                <a:latin typeface="Noto Sans KR"/>
                <a:ea typeface="Noto Sans KR"/>
                <a:cs typeface="Noto Sans KR"/>
                <a:sym typeface="Noto Sans KR"/>
              </a:rPr>
              <a:t>로그를 인사이트로 변환</a:t>
            </a:r>
            <a:endParaRPr/>
          </a:p>
        </p:txBody>
      </p:sp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1838325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733425" y="3173075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809625" y="3172122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목적: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대량의 로그를 직관적인 차트로 변환하여 패턴 식별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733425" y="398627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09625" y="3985319"/>
            <a:ext cx="5048250" cy="1148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구현: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923925" y="432143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○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1047750" y="4320480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시계열 차트: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시간 경과에 따른 이상 징후 추적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923925" y="4799468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○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1047750" y="4798516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파이 차트: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공격 유형 및 분포 분석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82880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78D4"/>
                </a:solidFill>
                <a:latin typeface="Noto Sans KR"/>
                <a:ea typeface="Noto Sans KR"/>
                <a:cs typeface="Noto Sans KR"/>
                <a:sym typeface="Noto Sans KR"/>
              </a:rPr>
              <a:t>탐지 사례 1: SSH Brute Force 공격</a:t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571500" y="1152525"/>
            <a:ext cx="11049000" cy="28575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71500" y="2569071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7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4578"/>
                </a:solidFill>
                <a:latin typeface="Noto Sans KR"/>
                <a:ea typeface="Noto Sans KR"/>
                <a:cs typeface="Noto Sans KR"/>
                <a:sym typeface="Noto Sans KR"/>
              </a:rPr>
              <a:t>공격 시나리오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3140571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외부 공격자의 무차별 대입 공격 (Dictionary Attack)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71500" y="3666232"/>
            <a:ext cx="5286375" cy="685800"/>
          </a:xfrm>
          <a:prstGeom prst="rect">
            <a:avLst/>
          </a:prstGeom>
          <a:solidFill>
            <a:srgbClr val="FF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714375" y="3809107"/>
            <a:ext cx="50006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탐지 규칙: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5분 내 3회 이상 로그인 실패 시 경보 발생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571500" y="3666232"/>
            <a:ext cx="38100" cy="685800"/>
          </a:xfrm>
          <a:prstGeom prst="rect">
            <a:avLst/>
          </a:prstGeom>
          <a:solidFill>
            <a:srgbClr val="D83B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71500" y="4561582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영향: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Linux VM에 대한 무단 액세스 및 시스템 장악 가능성</a:t>
            </a:r>
            <a:endParaRPr/>
          </a:p>
        </p:txBody>
      </p:sp>
      <p:pic>
        <p:nvPicPr>
          <p:cNvPr descr="image.png" id="199" name="Google Shape;19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3175" y="2894855"/>
            <a:ext cx="5248275" cy="2153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4255" y="2599451"/>
            <a:ext cx="207466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82880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78D4"/>
                </a:solidFill>
                <a:latin typeface="Noto Sans KR"/>
                <a:ea typeface="Noto Sans KR"/>
                <a:cs typeface="Noto Sans KR"/>
                <a:sym typeface="Noto Sans KR"/>
              </a:rPr>
              <a:t>탐지 사례 2: 악성 IP 통신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571500" y="1152525"/>
            <a:ext cx="11049000" cy="28575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2633960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7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4578"/>
                </a:solidFill>
                <a:latin typeface="Noto Sans KR"/>
                <a:ea typeface="Noto Sans KR"/>
                <a:cs typeface="Noto Sans KR"/>
                <a:sym typeface="Noto Sans KR"/>
              </a:rPr>
              <a:t>C2 서버 통신 시도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571500" y="3205460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내부 자산이 알려진 C2 서버/악성 IP와 통신 시도</a:t>
            </a:r>
            <a:endParaRPr/>
          </a:p>
        </p:txBody>
      </p:sp>
      <p:pic>
        <p:nvPicPr>
          <p:cNvPr descr="image.png" id="210" name="Google Shape;21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2491829"/>
            <a:ext cx="5267325" cy="29601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4255" y="2664340"/>
            <a:ext cx="207466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733425" y="3684448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809625" y="3683496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기술: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0" i="0" lang="en-US" sz="16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Microsoft 위협 인텔리전스(TI)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피드와 방화벽 로그 매핑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733425" y="4497645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809625" y="4496692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조치: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TI 차단 목록과 아웃바운드 트래픽 자동 상관 분석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78D4"/>
                </a:solidFill>
                <a:latin typeface="Noto Sans KR"/>
                <a:ea typeface="Noto Sans KR"/>
                <a:cs typeface="Noto Sans KR"/>
                <a:sym typeface="Noto Sans KR"/>
              </a:rPr>
              <a:t>탐지 사례 3: 권한 상승</a:t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571500" y="1152525"/>
            <a:ext cx="11049000" cy="28575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571500" y="2801540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7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4578"/>
                </a:solidFill>
                <a:latin typeface="Noto Sans KR"/>
                <a:ea typeface="Noto Sans KR"/>
                <a:cs typeface="Noto Sans KR"/>
                <a:sym typeface="Noto Sans KR"/>
              </a:rPr>
              <a:t>Root 권한 획득 시도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571500" y="3373040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웹 취약점으로 침투 후 Root 권한 획득 시도</a:t>
            </a:r>
            <a:endParaRPr/>
          </a:p>
        </p:txBody>
      </p:sp>
      <p:pic>
        <p:nvPicPr>
          <p:cNvPr descr="image.png"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255" y="2814676"/>
            <a:ext cx="207466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733425" y="3852029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809625" y="3851076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탐지: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Sudo 권한이 없는 사용자의 반복적인 Sudo 명령어 실패 감지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733425" y="4665225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809625" y="4664273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의미: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침해된 계정의 측면 이동 또는 시스템 장악 시도</a:t>
            </a:r>
            <a:endParaRPr/>
          </a:p>
        </p:txBody>
      </p:sp>
      <p:pic>
        <p:nvPicPr>
          <p:cNvPr id="229" name="Google Shape;229;p22" title="detec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6250" y="2814675"/>
            <a:ext cx="6516699" cy="67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78D4"/>
                </a:solidFill>
                <a:latin typeface="Noto Sans KR"/>
                <a:ea typeface="Noto Sans KR"/>
                <a:cs typeface="Noto Sans KR"/>
                <a:sym typeface="Noto Sans KR"/>
              </a:rPr>
              <a:t>탐지 사례 4: WAF 웹 공격 차단</a:t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571500" y="1152525"/>
            <a:ext cx="11049000" cy="28575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571500" y="2730103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7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4578"/>
                </a:solidFill>
                <a:latin typeface="Noto Sans KR"/>
                <a:ea typeface="Noto Sans KR"/>
                <a:cs typeface="Noto Sans KR"/>
                <a:sym typeface="Noto Sans KR"/>
              </a:rPr>
              <a:t>AppGateway WAF 방어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571500" y="3301603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SQL Injection, XSS 등 일반적인 웹 취약점 공격 차단</a:t>
            </a:r>
            <a:endParaRPr/>
          </a:p>
        </p:txBody>
      </p:sp>
      <p:pic>
        <p:nvPicPr>
          <p:cNvPr descr="image.png" id="238" name="Google Shape;2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3650" y="2844403"/>
            <a:ext cx="5267325" cy="22550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77728"/>
            <a:ext cx="207466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733425" y="3780591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809625" y="3779639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방어 계층: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Application Gateway WAF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733425" y="4258627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809625" y="4257675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정책: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OWASP CRS 3.2 적용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733425" y="4736663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809625" y="4735710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결과: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에지(Edge) 단계에서 악성 페이로드 자동 차단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78D4"/>
                </a:solidFill>
                <a:latin typeface="Noto Sans KR"/>
                <a:ea typeface="Noto Sans KR"/>
                <a:cs typeface="Noto Sans KR"/>
                <a:sym typeface="Noto Sans KR"/>
              </a:rPr>
              <a:t>탐지 사례 5: 데이터 유출 시도</a:t>
            </a:r>
            <a:endParaRPr/>
          </a:p>
        </p:txBody>
      </p:sp>
      <p:sp>
        <p:nvSpPr>
          <p:cNvPr id="251" name="Google Shape;251;p24"/>
          <p:cNvSpPr/>
          <p:nvPr/>
        </p:nvSpPr>
        <p:spPr>
          <a:xfrm>
            <a:off x="571500" y="1152525"/>
            <a:ext cx="11049000" cy="28575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571488" y="2326119"/>
            <a:ext cx="555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7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4578"/>
                </a:solidFill>
                <a:latin typeface="Noto Sans KR"/>
                <a:ea typeface="Noto Sans KR"/>
                <a:cs typeface="Noto Sans KR"/>
                <a:sym typeface="Noto Sans KR"/>
              </a:rPr>
              <a:t>클라우드 스토리지 업로드 시도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800138" y="2788894"/>
            <a:ext cx="5286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중요 데이터를 압축하여 Dropbox로 업로드 시도</a:t>
            </a:r>
            <a:endParaRPr/>
          </a:p>
        </p:txBody>
      </p:sp>
      <p:grpSp>
        <p:nvGrpSpPr>
          <p:cNvPr id="254" name="Google Shape;254;p24"/>
          <p:cNvGrpSpPr/>
          <p:nvPr/>
        </p:nvGrpSpPr>
        <p:grpSpPr>
          <a:xfrm>
            <a:off x="800150" y="4720108"/>
            <a:ext cx="5286300" cy="857400"/>
            <a:chOff x="571500" y="4466780"/>
            <a:chExt cx="5286300" cy="857400"/>
          </a:xfrm>
        </p:grpSpPr>
        <p:sp>
          <p:nvSpPr>
            <p:cNvPr id="255" name="Google Shape;255;p24"/>
            <p:cNvSpPr/>
            <p:nvPr/>
          </p:nvSpPr>
          <p:spPr>
            <a:xfrm>
              <a:off x="571500" y="4466780"/>
              <a:ext cx="5286300" cy="857400"/>
            </a:xfrm>
            <a:prstGeom prst="rect">
              <a:avLst/>
            </a:prstGeom>
            <a:solidFill>
              <a:srgbClr val="E6FFE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24"/>
            <p:cNvSpPr txBox="1"/>
            <p:nvPr/>
          </p:nvSpPr>
          <p:spPr>
            <a:xfrm>
              <a:off x="609600" y="4618430"/>
              <a:ext cx="50007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결과:</a:t>
              </a:r>
              <a:b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Azure Firewall 정책에 의해 차단됨</a:t>
              </a:r>
              <a:b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1" i="0" lang="en-US" sz="12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Action: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Deny</a:t>
              </a:r>
              <a:endParaRPr/>
            </a:p>
          </p:txBody>
        </p:sp>
      </p:grpSp>
      <p:sp>
        <p:nvSpPr>
          <p:cNvPr id="257" name="Google Shape;257;p24"/>
          <p:cNvSpPr/>
          <p:nvPr/>
        </p:nvSpPr>
        <p:spPr>
          <a:xfrm>
            <a:off x="778975" y="4720108"/>
            <a:ext cx="38100" cy="8574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8" name="Google Shape;2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54332"/>
            <a:ext cx="20746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113" y="3182675"/>
            <a:ext cx="10591769" cy="477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4" title="detec2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8975" y="3800422"/>
            <a:ext cx="9039225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82880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78D4"/>
                </a:solidFill>
                <a:latin typeface="Noto Sans KR"/>
                <a:ea typeface="Noto Sans KR"/>
                <a:cs typeface="Noto Sans KR"/>
                <a:sym typeface="Noto Sans KR"/>
              </a:rPr>
              <a:t>분석 규칙 튜닝 (오탐 최소화)</a:t>
            </a:r>
            <a:endParaRPr/>
          </a:p>
        </p:txBody>
      </p:sp>
      <p:sp>
        <p:nvSpPr>
          <p:cNvPr id="267" name="Google Shape;267;p25"/>
          <p:cNvSpPr/>
          <p:nvPr/>
        </p:nvSpPr>
        <p:spPr>
          <a:xfrm>
            <a:off x="571500" y="1152525"/>
            <a:ext cx="11049000" cy="28575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 txBox="1"/>
          <p:nvPr/>
        </p:nvSpPr>
        <p:spPr>
          <a:xfrm>
            <a:off x="571500" y="2730103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4578"/>
                </a:solidFill>
                <a:latin typeface="Noto Sans KR"/>
                <a:ea typeface="Noto Sans KR"/>
                <a:cs typeface="Noto Sans KR"/>
                <a:sym typeface="Noto Sans KR"/>
              </a:rPr>
              <a:t>노이즈 감소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571500" y="3301603"/>
            <a:ext cx="5286375" cy="679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문제: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정상 배포 스크립트(deploy.sh)를 공격으로 오인하여 알림 폭주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571500" y="4191000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해결: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Whitelist(예외 처리) 적용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571500" y="4735710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7C10"/>
                </a:solidFill>
                <a:latin typeface="Noto Sans KR"/>
                <a:ea typeface="Noto Sans KR"/>
                <a:cs typeface="Noto Sans KR"/>
                <a:sym typeface="Noto Sans KR"/>
              </a:rPr>
              <a:t>결과:</a:t>
            </a:r>
            <a:r>
              <a:rPr b="1" i="0" lang="en-US" sz="1650" u="none" cap="none" strike="noStrike">
                <a:solidFill>
                  <a:srgbClr val="107C10"/>
                </a:solidFill>
                <a:latin typeface="Noto Sans KR"/>
                <a:ea typeface="Noto Sans KR"/>
                <a:cs typeface="Noto Sans KR"/>
                <a:sym typeface="Noto Sans KR"/>
              </a:rPr>
              <a:t> 오탐률 80% 감소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989040"/>
            <a:ext cx="1988790" cy="986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6515" y="3989040"/>
            <a:ext cx="1988790" cy="986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1530" y="3989040"/>
            <a:ext cx="1988790" cy="986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66545" y="3989040"/>
            <a:ext cx="1988790" cy="986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31560" y="3989040"/>
            <a:ext cx="1988790" cy="98673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6"/>
          <p:cNvSpPr txBox="1"/>
          <p:nvPr/>
        </p:nvSpPr>
        <p:spPr>
          <a:xfrm>
            <a:off x="571500" y="1501229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78D4"/>
                </a:solidFill>
                <a:latin typeface="Noto Sans KR"/>
                <a:ea typeface="Noto Sans KR"/>
                <a:cs typeface="Noto Sans KR"/>
                <a:sym typeface="Noto Sans KR"/>
              </a:rPr>
              <a:t>MITRE ATT&amp;CK 종합 시나리오</a:t>
            </a:r>
            <a:endParaRPr/>
          </a:p>
        </p:txBody>
      </p:sp>
      <p:sp>
        <p:nvSpPr>
          <p:cNvPr id="282" name="Google Shape;282;p26"/>
          <p:cNvSpPr/>
          <p:nvPr/>
        </p:nvSpPr>
        <p:spPr>
          <a:xfrm>
            <a:off x="571500" y="2177504"/>
            <a:ext cx="11049000" cy="28575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6"/>
          <p:cNvSpPr txBox="1"/>
          <p:nvPr/>
        </p:nvSpPr>
        <p:spPr>
          <a:xfrm>
            <a:off x="571500" y="2796629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침투부터 흔적 삭제까지 전체 "Kill Chain" 추적</a:t>
            </a:r>
            <a:endParaRPr/>
          </a:p>
        </p:txBody>
      </p:sp>
      <p:sp>
        <p:nvSpPr>
          <p:cNvPr id="284" name="Google Shape;284;p26"/>
          <p:cNvSpPr/>
          <p:nvPr/>
        </p:nvSpPr>
        <p:spPr>
          <a:xfrm>
            <a:off x="571500" y="4463355"/>
            <a:ext cx="11049000" cy="381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 txBox="1"/>
          <p:nvPr/>
        </p:nvSpPr>
        <p:spPr>
          <a:xfrm>
            <a:off x="741807" y="4198590"/>
            <a:ext cx="164817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78D4"/>
                </a:solidFill>
                <a:latin typeface="Noto Sans KR"/>
                <a:ea typeface="Noto Sans KR"/>
                <a:cs typeface="Noto Sans KR"/>
                <a:sym typeface="Noto Sans KR"/>
              </a:rPr>
              <a:t>1. 정찰</a:t>
            </a:r>
            <a:endParaRPr/>
          </a:p>
        </p:txBody>
      </p:sp>
      <p:sp>
        <p:nvSpPr>
          <p:cNvPr id="286" name="Google Shape;286;p26"/>
          <p:cNvSpPr txBox="1"/>
          <p:nvPr/>
        </p:nvSpPr>
        <p:spPr>
          <a:xfrm>
            <a:off x="781050" y="4522440"/>
            <a:ext cx="156969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Nmap Scan</a:t>
            </a:r>
            <a:endParaRPr/>
          </a:p>
        </p:txBody>
      </p:sp>
      <p:sp>
        <p:nvSpPr>
          <p:cNvPr id="287" name="Google Shape;287;p26"/>
          <p:cNvSpPr txBox="1"/>
          <p:nvPr/>
        </p:nvSpPr>
        <p:spPr>
          <a:xfrm>
            <a:off x="3006822" y="4198590"/>
            <a:ext cx="164817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78D4"/>
                </a:solidFill>
                <a:latin typeface="Noto Sans KR"/>
                <a:ea typeface="Noto Sans KR"/>
                <a:cs typeface="Noto Sans KR"/>
                <a:sym typeface="Noto Sans KR"/>
              </a:rPr>
              <a:t>2. 초기 침투</a:t>
            </a:r>
            <a:endParaRPr/>
          </a:p>
        </p:txBody>
      </p:sp>
      <p:sp>
        <p:nvSpPr>
          <p:cNvPr id="288" name="Google Shape;288;p26"/>
          <p:cNvSpPr txBox="1"/>
          <p:nvPr/>
        </p:nvSpPr>
        <p:spPr>
          <a:xfrm>
            <a:off x="3046065" y="4522440"/>
            <a:ext cx="156969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SSH Brute Force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5271838" y="4198590"/>
            <a:ext cx="164817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78D4"/>
                </a:solidFill>
                <a:latin typeface="Noto Sans KR"/>
                <a:ea typeface="Noto Sans KR"/>
                <a:cs typeface="Noto Sans KR"/>
                <a:sym typeface="Noto Sans KR"/>
              </a:rPr>
              <a:t>3. 내부 탐색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5311080" y="4522440"/>
            <a:ext cx="156969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Internal Scan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7536853" y="4198590"/>
            <a:ext cx="164817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78D4"/>
                </a:solidFill>
                <a:latin typeface="Noto Sans KR"/>
                <a:ea typeface="Noto Sans KR"/>
                <a:cs typeface="Noto Sans KR"/>
                <a:sym typeface="Noto Sans KR"/>
              </a:rPr>
              <a:t>4. 확산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7576095" y="4522440"/>
            <a:ext cx="156969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Lateral Move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9801868" y="4198590"/>
            <a:ext cx="164817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78D4"/>
                </a:solidFill>
                <a:latin typeface="Noto Sans KR"/>
                <a:ea typeface="Noto Sans KR"/>
                <a:cs typeface="Noto Sans KR"/>
                <a:sym typeface="Noto Sans KR"/>
              </a:rPr>
              <a:t>5. 유출</a:t>
            </a: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9841110" y="4522440"/>
            <a:ext cx="156969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Data Leak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7"/>
          <p:cNvPicPr preferRelativeResize="0"/>
          <p:nvPr/>
        </p:nvPicPr>
        <p:blipFill rotWithShape="1">
          <a:blip r:embed="rId3">
            <a:alphaModFix/>
          </a:blip>
          <a:srcRect b="0" l="327" r="317" t="0"/>
          <a:stretch/>
        </p:blipFill>
        <p:spPr>
          <a:xfrm>
            <a:off x="6334125" y="1828800"/>
            <a:ext cx="5286374" cy="428163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7"/>
          <p:cNvSpPr txBox="1"/>
          <p:nvPr/>
        </p:nvSpPr>
        <p:spPr>
          <a:xfrm>
            <a:off x="571500" y="47625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78D4"/>
                </a:solidFill>
                <a:latin typeface="Noto Sans KR"/>
                <a:ea typeface="Noto Sans KR"/>
                <a:cs typeface="Noto Sans KR"/>
                <a:sym typeface="Noto Sans KR"/>
              </a:rPr>
              <a:t>단계별 조사 : 침투 및 내부 확산</a:t>
            </a:r>
            <a:endParaRPr/>
          </a:p>
        </p:txBody>
      </p:sp>
      <p:sp>
        <p:nvSpPr>
          <p:cNvPr id="301" name="Google Shape;301;p27"/>
          <p:cNvSpPr/>
          <p:nvPr/>
        </p:nvSpPr>
        <p:spPr>
          <a:xfrm>
            <a:off x="571500" y="1152525"/>
            <a:ext cx="11049000" cy="28575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7"/>
          <p:cNvSpPr txBox="1"/>
          <p:nvPr/>
        </p:nvSpPr>
        <p:spPr>
          <a:xfrm>
            <a:off x="571500" y="3002458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4578"/>
                </a:solidFill>
                <a:latin typeface="Noto Sans KR"/>
                <a:ea typeface="Noto Sans KR"/>
                <a:cs typeface="Noto Sans KR"/>
                <a:sym typeface="Noto Sans KR"/>
              </a:rPr>
              <a:t>초기 침투 분석</a:t>
            </a:r>
            <a:endParaRPr/>
          </a:p>
        </p:txBody>
      </p:sp>
      <p:sp>
        <p:nvSpPr>
          <p:cNvPr id="303" name="Google Shape;303;p27"/>
          <p:cNvSpPr txBox="1"/>
          <p:nvPr/>
        </p:nvSpPr>
        <p:spPr>
          <a:xfrm>
            <a:off x="733425" y="3508236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304" name="Google Shape;304;p27"/>
          <p:cNvSpPr txBox="1"/>
          <p:nvPr/>
        </p:nvSpPr>
        <p:spPr>
          <a:xfrm>
            <a:off x="809625" y="3507283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Step 1: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Nmap 스캔 및 SSH 접속 성공</a:t>
            </a:r>
            <a:endParaRPr/>
          </a:p>
        </p:txBody>
      </p:sp>
      <p:sp>
        <p:nvSpPr>
          <p:cNvPr id="305" name="Google Shape;305;p27"/>
          <p:cNvSpPr txBox="1"/>
          <p:nvPr/>
        </p:nvSpPr>
        <p:spPr>
          <a:xfrm>
            <a:off x="733425" y="398627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306" name="Google Shape;306;p27"/>
          <p:cNvSpPr txBox="1"/>
          <p:nvPr/>
        </p:nvSpPr>
        <p:spPr>
          <a:xfrm>
            <a:off x="809625" y="3985319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Step 2: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내부망 스캔 및 DB 서버 접근 시도</a:t>
            </a:r>
            <a:endParaRPr/>
          </a:p>
        </p:txBody>
      </p:sp>
      <p:sp>
        <p:nvSpPr>
          <p:cNvPr id="307" name="Google Shape;307;p27"/>
          <p:cNvSpPr txBox="1"/>
          <p:nvPr/>
        </p:nvSpPr>
        <p:spPr>
          <a:xfrm>
            <a:off x="733425" y="4464307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809625" y="4463355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상태: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방화벽 차단 정책에 의해 측면 이동 실패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3" name="Google Shape;31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883247"/>
            <a:ext cx="3492400" cy="21773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2883247"/>
            <a:ext cx="3492549" cy="21773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950" y="2883247"/>
            <a:ext cx="3492400" cy="217735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8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78D4"/>
                </a:solidFill>
                <a:latin typeface="Noto Sans KR"/>
                <a:ea typeface="Noto Sans KR"/>
                <a:cs typeface="Noto Sans KR"/>
                <a:sym typeface="Noto Sans KR"/>
              </a:rPr>
              <a:t>대응 및 차단</a:t>
            </a:r>
            <a:endParaRPr/>
          </a:p>
        </p:txBody>
      </p:sp>
      <p:sp>
        <p:nvSpPr>
          <p:cNvPr id="317" name="Google Shape;317;p28"/>
          <p:cNvSpPr/>
          <p:nvPr/>
        </p:nvSpPr>
        <p:spPr>
          <a:xfrm>
            <a:off x="571500" y="1152525"/>
            <a:ext cx="11049000" cy="28575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8" name="Google Shape;31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3207097"/>
            <a:ext cx="29209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8"/>
          <p:cNvSpPr txBox="1"/>
          <p:nvPr/>
        </p:nvSpPr>
        <p:spPr>
          <a:xfrm>
            <a:off x="857250" y="3778597"/>
            <a:ext cx="306694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578"/>
                </a:solidFill>
                <a:latin typeface="Noto Sans KR"/>
                <a:ea typeface="Noto Sans KR"/>
                <a:cs typeface="Noto Sans KR"/>
                <a:sym typeface="Noto Sans KR"/>
              </a:rPr>
              <a:t>네트워크 격리</a:t>
            </a:r>
            <a:endParaRPr/>
          </a:p>
        </p:txBody>
      </p:sp>
      <p:sp>
        <p:nvSpPr>
          <p:cNvPr id="320" name="Google Shape;320;p28"/>
          <p:cNvSpPr txBox="1"/>
          <p:nvPr/>
        </p:nvSpPr>
        <p:spPr>
          <a:xfrm>
            <a:off x="857250" y="4226272"/>
            <a:ext cx="29209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JIT(Just-In-Time) VM Access 권한을 강제 회수하여 공격자 접근 차단</a:t>
            </a:r>
            <a:endParaRPr/>
          </a:p>
        </p:txBody>
      </p:sp>
      <p:pic>
        <p:nvPicPr>
          <p:cNvPr descr="image.png" id="321" name="Google Shape;321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35400" y="3207097"/>
            <a:ext cx="292104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8"/>
          <p:cNvSpPr txBox="1"/>
          <p:nvPr/>
        </p:nvSpPr>
        <p:spPr>
          <a:xfrm>
            <a:off x="4635400" y="3778597"/>
            <a:ext cx="30671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578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프로세스 종료</a:t>
            </a:r>
            <a:endParaRPr/>
          </a:p>
        </p:txBody>
      </p:sp>
      <p:sp>
        <p:nvSpPr>
          <p:cNvPr id="323" name="Google Shape;323;p28"/>
          <p:cNvSpPr txBox="1"/>
          <p:nvPr/>
        </p:nvSpPr>
        <p:spPr>
          <a:xfrm>
            <a:off x="4635400" y="4226272"/>
            <a:ext cx="292104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악성 세션 강제 종료 명령어(pkill) 즉시 실행</a:t>
            </a:r>
            <a:endParaRPr/>
          </a:p>
        </p:txBody>
      </p:sp>
      <p:pic>
        <p:nvPicPr>
          <p:cNvPr descr="image.png" id="324" name="Google Shape;324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13700" y="3207097"/>
            <a:ext cx="29209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8"/>
          <p:cNvSpPr txBox="1"/>
          <p:nvPr/>
        </p:nvSpPr>
        <p:spPr>
          <a:xfrm>
            <a:off x="8413700" y="3778597"/>
            <a:ext cx="306694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578"/>
                </a:solidFill>
                <a:latin typeface="Noto Sans KR"/>
                <a:ea typeface="Noto Sans KR"/>
                <a:cs typeface="Noto Sans KR"/>
                <a:sym typeface="Noto Sans KR"/>
              </a:rPr>
              <a:t>정책 강화</a:t>
            </a:r>
            <a:endParaRPr/>
          </a:p>
        </p:txBody>
      </p:sp>
      <p:sp>
        <p:nvSpPr>
          <p:cNvPr id="326" name="Google Shape;326;p28"/>
          <p:cNvSpPr txBox="1"/>
          <p:nvPr/>
        </p:nvSpPr>
        <p:spPr>
          <a:xfrm>
            <a:off x="8413700" y="4226272"/>
            <a:ext cx="29209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방화벽 및 NSG에 Dropbox 도메인 차단 규칙 영구 추가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1" name="Google Shape;33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82880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9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78D4"/>
                </a:solidFill>
                <a:latin typeface="Noto Sans KR"/>
                <a:ea typeface="Noto Sans KR"/>
                <a:cs typeface="Noto Sans KR"/>
                <a:sym typeface="Noto Sans KR"/>
              </a:rPr>
              <a:t>보안 사고 대응 자동화 (SOAR)</a:t>
            </a:r>
            <a:endParaRPr/>
          </a:p>
        </p:txBody>
      </p:sp>
      <p:sp>
        <p:nvSpPr>
          <p:cNvPr id="333" name="Google Shape;333;p29"/>
          <p:cNvSpPr/>
          <p:nvPr/>
        </p:nvSpPr>
        <p:spPr>
          <a:xfrm>
            <a:off x="571500" y="1152525"/>
            <a:ext cx="11049000" cy="28575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9"/>
          <p:cNvSpPr txBox="1"/>
          <p:nvPr/>
        </p:nvSpPr>
        <p:spPr>
          <a:xfrm>
            <a:off x="571500" y="2529185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4578"/>
                </a:solidFill>
                <a:latin typeface="Noto Sans KR"/>
                <a:ea typeface="Noto Sans KR"/>
                <a:cs typeface="Noto Sans KR"/>
                <a:sym typeface="Noto Sans KR"/>
              </a:rPr>
              <a:t>자동 대응 로직</a:t>
            </a:r>
            <a:endParaRPr/>
          </a:p>
        </p:txBody>
      </p:sp>
      <p:sp>
        <p:nvSpPr>
          <p:cNvPr id="335" name="Google Shape;335;p29"/>
          <p:cNvSpPr txBox="1"/>
          <p:nvPr/>
        </p:nvSpPr>
        <p:spPr>
          <a:xfrm>
            <a:off x="571500" y="4936628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7C10"/>
                </a:solidFill>
                <a:latin typeface="Noto Sans KR"/>
                <a:ea typeface="Noto Sans KR"/>
                <a:cs typeface="Noto Sans KR"/>
                <a:sym typeface="Noto Sans KR"/>
              </a:rPr>
              <a:t>Zero Latency:</a:t>
            </a:r>
            <a:r>
              <a:rPr b="1" i="0" lang="en-US" sz="1650" u="none" cap="none" strike="noStrike">
                <a:solidFill>
                  <a:srgbClr val="107C10"/>
                </a:solidFill>
                <a:latin typeface="Noto Sans KR"/>
                <a:ea typeface="Noto Sans KR"/>
                <a:cs typeface="Noto Sans KR"/>
                <a:sym typeface="Noto Sans KR"/>
              </a:rPr>
              <a:t> 즉각적인 위협 인지 및 대응 가능</a:t>
            </a:r>
            <a:endParaRPr/>
          </a:p>
        </p:txBody>
      </p:sp>
      <p:sp>
        <p:nvSpPr>
          <p:cNvPr id="336" name="Google Shape;336;p29"/>
          <p:cNvSpPr txBox="1"/>
          <p:nvPr/>
        </p:nvSpPr>
        <p:spPr>
          <a:xfrm>
            <a:off x="781050" y="3101637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1.</a:t>
            </a:r>
            <a:endParaRPr/>
          </a:p>
        </p:txBody>
      </p:sp>
      <p:sp>
        <p:nvSpPr>
          <p:cNvPr id="337" name="Google Shape;337;p29"/>
          <p:cNvSpPr txBox="1"/>
          <p:nvPr/>
        </p:nvSpPr>
        <p:spPr>
          <a:xfrm>
            <a:off x="952500" y="3100685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Trigger: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Sentinel Incident 발생</a:t>
            </a:r>
            <a:endParaRPr/>
          </a:p>
        </p:txBody>
      </p:sp>
      <p:sp>
        <p:nvSpPr>
          <p:cNvPr id="338" name="Google Shape;338;p29"/>
          <p:cNvSpPr txBox="1"/>
          <p:nvPr/>
        </p:nvSpPr>
        <p:spPr>
          <a:xfrm>
            <a:off x="781050" y="3579673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2.</a:t>
            </a:r>
            <a:endParaRPr/>
          </a:p>
        </p:txBody>
      </p:sp>
      <p:sp>
        <p:nvSpPr>
          <p:cNvPr id="339" name="Google Shape;339;p29"/>
          <p:cNvSpPr txBox="1"/>
          <p:nvPr/>
        </p:nvSpPr>
        <p:spPr>
          <a:xfrm>
            <a:off x="952500" y="3578721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Action: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Azure Monitor Alert Rule 동작</a:t>
            </a:r>
            <a:endParaRPr/>
          </a:p>
        </p:txBody>
      </p:sp>
      <p:sp>
        <p:nvSpPr>
          <p:cNvPr id="340" name="Google Shape;340;p29"/>
          <p:cNvSpPr txBox="1"/>
          <p:nvPr/>
        </p:nvSpPr>
        <p:spPr>
          <a:xfrm>
            <a:off x="781050" y="4057709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3.</a:t>
            </a:r>
            <a:endParaRPr/>
          </a:p>
        </p:txBody>
      </p:sp>
      <p:sp>
        <p:nvSpPr>
          <p:cNvPr id="341" name="Google Shape;341;p29"/>
          <p:cNvSpPr txBox="1"/>
          <p:nvPr/>
        </p:nvSpPr>
        <p:spPr>
          <a:xfrm>
            <a:off x="952500" y="4056757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결과: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'Action Group'을 통해 보안 담당자에게 즉시 이메일 알림 발송</a:t>
            </a:r>
            <a:endParaRPr/>
          </a:p>
        </p:txBody>
      </p:sp>
      <p:pic>
        <p:nvPicPr>
          <p:cNvPr id="342" name="Google Shape;34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2677" y="1772511"/>
            <a:ext cx="5089249" cy="446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0"/>
          <p:cNvPicPr preferRelativeResize="0"/>
          <p:nvPr/>
        </p:nvPicPr>
        <p:blipFill rotWithShape="1">
          <a:blip r:embed="rId3">
            <a:alphaModFix/>
          </a:blip>
          <a:srcRect b="6085" l="0" r="0" t="6094"/>
          <a:stretch/>
        </p:blipFill>
        <p:spPr>
          <a:xfrm>
            <a:off x="1714500" y="1514475"/>
            <a:ext cx="2857500" cy="656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0"/>
          <p:cNvPicPr preferRelativeResize="0"/>
          <p:nvPr/>
        </p:nvPicPr>
        <p:blipFill rotWithShape="1">
          <a:blip r:embed="rId4">
            <a:alphaModFix/>
          </a:blip>
          <a:srcRect b="6085" l="0" r="0" t="6094"/>
          <a:stretch/>
        </p:blipFill>
        <p:spPr>
          <a:xfrm>
            <a:off x="1714500" y="2933700"/>
            <a:ext cx="2857500" cy="656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0"/>
          <p:cNvPicPr preferRelativeResize="0"/>
          <p:nvPr/>
        </p:nvPicPr>
        <p:blipFill rotWithShape="1">
          <a:blip r:embed="rId5">
            <a:alphaModFix/>
          </a:blip>
          <a:srcRect b="6116" l="0" r="0" t="6125"/>
          <a:stretch/>
        </p:blipFill>
        <p:spPr>
          <a:xfrm>
            <a:off x="1714500" y="4352925"/>
            <a:ext cx="2857500" cy="656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 rotWithShape="1">
          <a:blip r:embed="rId6">
            <a:alphaModFix/>
          </a:blip>
          <a:srcRect b="6085" l="0" r="0" t="6094"/>
          <a:stretch/>
        </p:blipFill>
        <p:spPr>
          <a:xfrm>
            <a:off x="1714500" y="5772150"/>
            <a:ext cx="2857500" cy="656758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571500" y="428625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78D4"/>
                </a:solidFill>
                <a:latin typeface="Noto Sans KR"/>
                <a:ea typeface="Noto Sans KR"/>
                <a:cs typeface="Noto Sans KR"/>
                <a:sym typeface="Noto Sans KR"/>
              </a:rPr>
              <a:t>사고 대응 타임라인</a:t>
            </a:r>
            <a:endParaRPr/>
          </a:p>
        </p:txBody>
      </p:sp>
      <p:sp>
        <p:nvSpPr>
          <p:cNvPr id="352" name="Google Shape;352;p30"/>
          <p:cNvSpPr/>
          <p:nvPr/>
        </p:nvSpPr>
        <p:spPr>
          <a:xfrm>
            <a:off x="571500" y="1104900"/>
            <a:ext cx="11049000" cy="28575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5429250" y="2808982"/>
            <a:ext cx="530066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78D4"/>
                </a:solidFill>
                <a:latin typeface="Noto Sans KR"/>
                <a:ea typeface="Noto Sans KR"/>
                <a:cs typeface="Noto Sans KR"/>
                <a:sym typeface="Noto Sans KR"/>
              </a:rPr>
              <a:t>골든타임 달성</a:t>
            </a:r>
            <a:endParaRPr/>
          </a:p>
        </p:txBody>
      </p:sp>
      <p:sp>
        <p:nvSpPr>
          <p:cNvPr id="354" name="Google Shape;354;p30"/>
          <p:cNvSpPr txBox="1"/>
          <p:nvPr/>
        </p:nvSpPr>
        <p:spPr>
          <a:xfrm>
            <a:off x="5429250" y="3685282"/>
            <a:ext cx="5048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탐지부터 종결까지: </a:t>
            </a:r>
            <a:r>
              <a:rPr b="1" i="0" lang="en-US" sz="210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55분</a:t>
            </a:r>
            <a:endParaRPr/>
          </a:p>
        </p:txBody>
      </p:sp>
      <p:sp>
        <p:nvSpPr>
          <p:cNvPr id="355" name="Google Shape;355;p30"/>
          <p:cNvSpPr txBox="1"/>
          <p:nvPr/>
        </p:nvSpPr>
        <p:spPr>
          <a:xfrm>
            <a:off x="5429250" y="4321522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신속한 탐지와 자동화된 알림으로 위협을 조기에 무력화했습니다.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0" name="Google Shape;36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992050"/>
            <a:ext cx="5286375" cy="251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1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78D4"/>
                </a:solidFill>
                <a:latin typeface="Noto Sans KR"/>
                <a:ea typeface="Noto Sans KR"/>
                <a:cs typeface="Noto Sans KR"/>
                <a:sym typeface="Noto Sans KR"/>
              </a:rPr>
              <a:t>결론 및 시사점</a:t>
            </a:r>
            <a:endParaRPr/>
          </a:p>
        </p:txBody>
      </p:sp>
      <p:sp>
        <p:nvSpPr>
          <p:cNvPr id="362" name="Google Shape;362;p31"/>
          <p:cNvSpPr/>
          <p:nvPr/>
        </p:nvSpPr>
        <p:spPr>
          <a:xfrm>
            <a:off x="571500" y="1152525"/>
            <a:ext cx="11049000" cy="28575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1"/>
          <p:cNvSpPr txBox="1"/>
          <p:nvPr/>
        </p:nvSpPr>
        <p:spPr>
          <a:xfrm>
            <a:off x="571500" y="2439590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4578"/>
                </a:solidFill>
                <a:latin typeface="Noto Sans KR"/>
                <a:ea typeface="Noto Sans KR"/>
                <a:cs typeface="Noto Sans KR"/>
                <a:sym typeface="Noto Sans KR"/>
              </a:rPr>
              <a:t>검증 결과 요약</a:t>
            </a:r>
            <a:endParaRPr/>
          </a:p>
        </p:txBody>
      </p:sp>
      <p:graphicFrame>
        <p:nvGraphicFramePr>
          <p:cNvPr id="364" name="Google Shape;364;p31"/>
          <p:cNvGraphicFramePr/>
          <p:nvPr/>
        </p:nvGraphicFramePr>
        <p:xfrm>
          <a:off x="571500" y="2992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{F7AB3D23-C864-4103-AEC8-098441306037}</a:tableStyleId>
              </a:tblPr>
              <a:tblGrid>
                <a:gridCol w="1514025"/>
                <a:gridCol w="3772350"/>
              </a:tblGrid>
              <a:tr h="62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457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C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457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핵심 성과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CF9"/>
                    </a:solidFill>
                  </a:tcPr>
                </a:tc>
              </a:tr>
              <a:tr h="62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B4B4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Defender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B4B4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인프라 가시성 확보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B4B4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Sentinel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B4B4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상관 분석 및 고도화된 탐지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B4B4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SOAR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B4B4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대응 자동화 파이프라인 구축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5" name="Google Shape;365;p31"/>
          <p:cNvSpPr txBox="1"/>
          <p:nvPr/>
        </p:nvSpPr>
        <p:spPr>
          <a:xfrm>
            <a:off x="6953238" y="3182561"/>
            <a:ext cx="475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4578"/>
                </a:solidFill>
                <a:latin typeface="Noto Sans KR"/>
                <a:ea typeface="Noto Sans KR"/>
                <a:cs typeface="Noto Sans KR"/>
                <a:sym typeface="Noto Sans KR"/>
              </a:rPr>
              <a:t>향후 계획 (Future Work)</a:t>
            </a:r>
            <a:endParaRPr/>
          </a:p>
        </p:txBody>
      </p:sp>
      <p:sp>
        <p:nvSpPr>
          <p:cNvPr id="366" name="Google Shape;366;p31"/>
          <p:cNvSpPr txBox="1"/>
          <p:nvPr/>
        </p:nvSpPr>
        <p:spPr>
          <a:xfrm>
            <a:off x="6953250" y="3940857"/>
            <a:ext cx="4286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3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DLP 솔루션 도입: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데이터 유출 원천 차단</a:t>
            </a:r>
            <a:endParaRPr/>
          </a:p>
        </p:txBody>
      </p:sp>
      <p:sp>
        <p:nvSpPr>
          <p:cNvPr id="367" name="Google Shape;367;p31"/>
          <p:cNvSpPr txBox="1"/>
          <p:nvPr/>
        </p:nvSpPr>
        <p:spPr>
          <a:xfrm>
            <a:off x="6953250" y="4452884"/>
            <a:ext cx="4286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3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UEBA 고도화:</a:t>
            </a: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 사용자 행위 분석을 통한 내부 위협 탐지</a:t>
            </a:r>
            <a:endParaRPr/>
          </a:p>
        </p:txBody>
      </p:sp>
      <p:sp>
        <p:nvSpPr>
          <p:cNvPr id="368" name="Google Shape;368;p31"/>
          <p:cNvSpPr/>
          <p:nvPr/>
        </p:nvSpPr>
        <p:spPr>
          <a:xfrm>
            <a:off x="571500" y="4229100"/>
            <a:ext cx="1514028" cy="9525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1"/>
          <p:cNvSpPr/>
          <p:nvPr/>
        </p:nvSpPr>
        <p:spPr>
          <a:xfrm>
            <a:off x="2085528" y="4229100"/>
            <a:ext cx="3772346" cy="9525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1"/>
          <p:cNvSpPr/>
          <p:nvPr/>
        </p:nvSpPr>
        <p:spPr>
          <a:xfrm>
            <a:off x="571500" y="4859535"/>
            <a:ext cx="1514028" cy="9525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1"/>
          <p:cNvSpPr/>
          <p:nvPr/>
        </p:nvSpPr>
        <p:spPr>
          <a:xfrm>
            <a:off x="2085528" y="4859535"/>
            <a:ext cx="3772346" cy="9525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1"/>
          <p:cNvSpPr/>
          <p:nvPr/>
        </p:nvSpPr>
        <p:spPr>
          <a:xfrm>
            <a:off x="571500" y="5489971"/>
            <a:ext cx="1514028" cy="9525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1"/>
          <p:cNvSpPr/>
          <p:nvPr/>
        </p:nvSpPr>
        <p:spPr>
          <a:xfrm>
            <a:off x="2085528" y="5489971"/>
            <a:ext cx="3772346" cy="9525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4" name="Google Shape;37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53250" y="2934890"/>
            <a:ext cx="16311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9" name="Google Shape;37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2213" y="2850313"/>
            <a:ext cx="8507576" cy="11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2"/>
          <p:cNvSpPr txBox="1"/>
          <p:nvPr/>
        </p:nvSpPr>
        <p:spPr>
          <a:xfrm>
            <a:off x="3720765" y="3138248"/>
            <a:ext cx="475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4578"/>
                </a:solidFill>
                <a:latin typeface="Noto Sans KR"/>
                <a:ea typeface="Noto Sans KR"/>
                <a:cs typeface="Noto Sans KR"/>
                <a:sym typeface="Noto Sans KR"/>
              </a:rPr>
              <a:t>감사합니다</a:t>
            </a:r>
            <a:endParaRPr/>
          </a:p>
        </p:txBody>
      </p:sp>
      <p:sp>
        <p:nvSpPr>
          <p:cNvPr id="381" name="Google Shape;381;p32"/>
          <p:cNvSpPr txBox="1"/>
          <p:nvPr/>
        </p:nvSpPr>
        <p:spPr>
          <a:xfrm>
            <a:off x="3833850" y="3586898"/>
            <a:ext cx="4524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4B4B"/>
                </a:solidFill>
                <a:latin typeface="Noto Sans KR"/>
                <a:ea typeface="Noto Sans KR"/>
                <a:cs typeface="Noto Sans KR"/>
                <a:sym typeface="Noto Sans KR"/>
              </a:rPr>
              <a:t>Q&amp;A Session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
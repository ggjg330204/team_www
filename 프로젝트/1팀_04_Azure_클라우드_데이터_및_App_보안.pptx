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8.jpg" ContentType="image/jpeg"/>
  <Override PartName="/ppt/media/image28.jpg" ContentType="image/jpeg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3588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B8D7E9"/>
    <a:srgbClr val="FEFFFA"/>
    <a:srgbClr val="505050"/>
    <a:srgbClr val="787876"/>
    <a:srgbClr val="FAFAFA"/>
    <a:srgbClr val="F0F1EE"/>
    <a:srgbClr val="F6F6F6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0" y="300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4673BD-054D-4C83-9F1A-504F750C99BF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D0415-8359-4D5D-B610-AF2A149F6E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29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Pdf 21 </a:t>
            </a:r>
            <a:r>
              <a:rPr lang="ko-KR" altLang="en-US" dirty="0"/>
              <a:t>페이지 및 </a:t>
            </a:r>
            <a:r>
              <a:rPr lang="en-US" altLang="ko-KR" dirty="0"/>
              <a:t>23 </a:t>
            </a:r>
            <a:r>
              <a:rPr lang="ko-KR" altLang="en-US" dirty="0"/>
              <a:t>페이지 참조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CD0415-8359-4D5D-B610-AF2A149F6E2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195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8B0403C-1BD2-6ADA-6370-B80C43F6C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53" y="2539013"/>
            <a:ext cx="10204881" cy="335132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50415" y="967666"/>
            <a:ext cx="10981678" cy="1367161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25400">
              <a:lnSpc>
                <a:spcPts val="6082"/>
              </a:lnSpc>
              <a:spcBef>
                <a:spcPts val="1750"/>
              </a:spcBef>
            </a:pPr>
            <a:r>
              <a:rPr lang="en-US" sz="4900" b="1" dirty="0">
                <a:solidFill>
                  <a:srgbClr val="051C5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Azure </a:t>
            </a:r>
            <a:r>
              <a:rPr lang="ko" sz="4500" dirty="0">
                <a:solidFill>
                  <a:srgbClr val="051C5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클라우드 데이터 및 </a:t>
            </a:r>
            <a:r>
              <a:rPr lang="en-US" sz="4900" b="1" dirty="0">
                <a:solidFill>
                  <a:srgbClr val="051C5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App </a:t>
            </a:r>
            <a:r>
              <a:rPr lang="ko" sz="4500" dirty="0">
                <a:solidFill>
                  <a:srgbClr val="051C5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보안 보고서</a:t>
            </a:r>
          </a:p>
          <a:p>
            <a:pPr indent="25400">
              <a:lnSpc>
                <a:spcPts val="6082"/>
              </a:lnSpc>
            </a:pPr>
            <a:r>
              <a:rPr lang="ko" sz="3100" dirty="0">
                <a:solidFill>
                  <a:srgbClr val="3A495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보안 통제 아키텍처 구축 및 공격시나리오 검증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90365" y="6218807"/>
            <a:ext cx="7484689" cy="34179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2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" sz="1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팀 / 팀장 이하연，팀원 정현지，이두경，배하영，이기훈，신윤철</a:t>
            </a:r>
          </a:p>
        </p:txBody>
      </p:sp>
      <p:pic>
        <p:nvPicPr>
          <p:cNvPr id="6" name="object 11">
            <a:extLst>
              <a:ext uri="{FF2B5EF4-FFF2-40B4-BE49-F238E27FC236}">
                <a16:creationId xmlns:a16="http://schemas.microsoft.com/office/drawing/2014/main" id="{52A81204-7D48-B185-2F48-26F149394FD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2000" cy="13394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F55B7ED-BA74-42F6-E889-E64E3B77D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936594" y="670264"/>
            <a:ext cx="1175541" cy="69489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45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목차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909960" y="1779972"/>
            <a:ext cx="7177971" cy="4407764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0">
              <a:spcAft>
                <a:spcPts val="980"/>
              </a:spcAft>
            </a:pPr>
            <a:r>
              <a:rPr lang="en-US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1. </a:t>
            </a:r>
            <a:r>
              <a:rPr lang="ko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프로젝트 개요</a:t>
            </a:r>
          </a:p>
          <a:p>
            <a:pPr indent="0">
              <a:spcAft>
                <a:spcPts val="980"/>
              </a:spcAft>
            </a:pPr>
            <a:r>
              <a:rPr lang="en-US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2. ID </a:t>
            </a:r>
            <a:r>
              <a:rPr lang="ko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및 액세스 관리 검증</a:t>
            </a:r>
          </a:p>
          <a:p>
            <a:pPr indent="0">
              <a:spcAft>
                <a:spcPts val="980"/>
              </a:spcAft>
            </a:pPr>
            <a:r>
              <a:rPr lang="en-US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3. </a:t>
            </a:r>
            <a:r>
              <a:rPr lang="ko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플랫폼 및 네트워크 보호</a:t>
            </a:r>
          </a:p>
          <a:p>
            <a:pPr indent="0">
              <a:spcAft>
                <a:spcPts val="980"/>
              </a:spcAft>
            </a:pPr>
            <a:r>
              <a:rPr lang="en-US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4. </a:t>
            </a:r>
            <a:r>
              <a:rPr lang="ko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및 애플리케이션 보호</a:t>
            </a:r>
          </a:p>
          <a:p>
            <a:pPr indent="0">
              <a:spcAft>
                <a:spcPts val="980"/>
              </a:spcAft>
            </a:pPr>
            <a:r>
              <a:rPr lang="en-US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5. </a:t>
            </a:r>
            <a:r>
              <a:rPr lang="ko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보안 운영 및 관제</a:t>
            </a:r>
          </a:p>
          <a:p>
            <a:pPr indent="0">
              <a:lnSpc>
                <a:spcPct val="150000"/>
              </a:lnSpc>
              <a:spcAft>
                <a:spcPts val="980"/>
              </a:spcAft>
            </a:pPr>
            <a:r>
              <a:rPr lang="en-US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6. </a:t>
            </a:r>
            <a:r>
              <a:rPr lang="ko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웹 취약점 진단 및 방어 </a:t>
            </a:r>
            <a:r>
              <a:rPr lang="en-US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（</a:t>
            </a:r>
            <a:r>
              <a:rPr lang="en-US" sz="26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Lupang</a:t>
            </a:r>
            <a:r>
              <a:rPr lang="en-US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프로젝트）</a:t>
            </a:r>
            <a:endParaRPr lang="en-US" altLang="ko" sz="2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indent="0">
              <a:lnSpc>
                <a:spcPct val="150000"/>
              </a:lnSpc>
              <a:spcAft>
                <a:spcPts val="980"/>
              </a:spcAft>
            </a:pPr>
            <a:r>
              <a:rPr lang="en-US" altLang="ko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7. </a:t>
            </a:r>
            <a:r>
              <a:rPr lang="ko-KR" altLang="en-US" sz="26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결론</a:t>
            </a:r>
            <a:endParaRPr lang="en-US" altLang="ko" sz="2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762912" y="6689324"/>
            <a:ext cx="332913" cy="164237"/>
          </a:xfrm>
          <a:prstGeom prst="rect">
            <a:avLst/>
          </a:prstGeom>
          <a:solidFill>
            <a:srgbClr val="0C72BA"/>
          </a:solidFill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1100">
                <a:solidFill>
                  <a:srgbClr val="FFFFFF"/>
                </a:solidFill>
                <a:latin typeface="Arial"/>
                <a:ea typeface="Arial"/>
              </a:rPr>
              <a:t>2/20</a:t>
            </a:r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61C9654C-F395-0D12-B29D-5E0465F2077A}"/>
              </a:ext>
            </a:extLst>
          </p:cNvPr>
          <p:cNvSpPr/>
          <p:nvPr/>
        </p:nvSpPr>
        <p:spPr>
          <a:xfrm>
            <a:off x="0" y="6625828"/>
            <a:ext cx="12192000" cy="227965"/>
          </a:xfrm>
          <a:custGeom>
            <a:avLst/>
            <a:gdLst/>
            <a:ahLst/>
            <a:cxnLst/>
            <a:rect l="l" t="t" r="r" b="b"/>
            <a:pathLst>
              <a:path w="12192000" h="227965">
                <a:moveTo>
                  <a:pt x="12192000" y="227706"/>
                </a:moveTo>
                <a:lnTo>
                  <a:pt x="0" y="227706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27706"/>
                </a:lnTo>
                <a:close/>
              </a:path>
            </a:pathLst>
          </a:custGeom>
          <a:solidFill>
            <a:srgbClr val="0872B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C236E29-472B-7DFC-8BA0-6ACDFC0C0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594803" y="506027"/>
            <a:ext cx="2809783" cy="47051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프로젝트 개요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112885" y="1500326"/>
            <a:ext cx="7981025" cy="4438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 algn="ctr"/>
            <a:r>
              <a:rPr lang="ko" sz="3100" dirty="0">
                <a:solidFill>
                  <a:srgbClr val="07479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공격자가 침투하지 못하도록 잘 잠겨있는가?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12618" y="2607972"/>
            <a:ext cx="9136435" cy="1588853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marL="1087396" indent="0" algn="just">
              <a:spcAft>
                <a:spcPts val="420"/>
              </a:spcAft>
            </a:pPr>
            <a:r>
              <a:rPr lang="en-US" altLang="ko" sz="7300" dirty="0">
                <a:solidFill>
                  <a:srgbClr val="0F6FB6"/>
                </a:solidFill>
                <a:latin typeface="Batang"/>
                <a:ea typeface="Batang"/>
              </a:rPr>
              <a:t>	</a:t>
            </a:r>
            <a:endParaRPr lang="ko" sz="7300" dirty="0">
              <a:solidFill>
                <a:srgbClr val="0F6FB6"/>
              </a:solidFill>
              <a:latin typeface="Batang"/>
              <a:ea typeface="Batang"/>
            </a:endParaRPr>
          </a:p>
          <a:p>
            <a:pPr marL="1417596" indent="0" algn="just">
              <a:spcAft>
                <a:spcPts val="3010"/>
              </a:spcAft>
            </a:pPr>
            <a:r>
              <a:rPr lang="en-US" sz="2200" b="1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		ID 		</a:t>
            </a:r>
            <a:r>
              <a:rPr lang="ko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플랫폼</a:t>
            </a:r>
            <a:r>
              <a:rPr lang="en-US" altLang="ko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		  </a:t>
            </a:r>
            <a:r>
              <a:rPr lang="ko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     </a:t>
            </a:r>
            <a:r>
              <a:rPr lang="en-US" altLang="ko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	  </a:t>
            </a:r>
            <a:r>
              <a:rPr lang="ko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운영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452194" y="6471821"/>
            <a:ext cx="439444" cy="21306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1500">
                <a:latin typeface="Arial"/>
                <a:ea typeface="Arial"/>
              </a:rPr>
              <a:t>3/20</a:t>
            </a:r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87275A32-5E69-B5FF-C404-E4C33655B0A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43842" y="2649846"/>
            <a:ext cx="921488" cy="7858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E0ECBE-E1A4-298E-7D9E-9FF3573684C8}"/>
              </a:ext>
            </a:extLst>
          </p:cNvPr>
          <p:cNvSpPr txBox="1"/>
          <p:nvPr/>
        </p:nvSpPr>
        <p:spPr>
          <a:xfrm>
            <a:off x="901521" y="4266276"/>
            <a:ext cx="103803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검증 범위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ID,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플랫폼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데이터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운영의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 영역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목표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각 보안 통제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(Security Controls)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의 실제 차단 테스트 및 설정 검증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프로젝트 의의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 Azure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클라우드 환경의 데이터 및 애플리케이션 보안 아키텍처의 견고성 확인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기대 효과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잠재적인 취약점 식별 및 개선 방안 제시</a:t>
            </a:r>
          </a:p>
          <a:p>
            <a:endParaRPr lang="ko-KR" altLang="en-US" dirty="0"/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1203F6C9-81CA-ED06-7EC9-D11C746BFF6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70219" y="2677423"/>
            <a:ext cx="921488" cy="839390"/>
          </a:xfrm>
          <a:prstGeom prst="rect">
            <a:avLst/>
          </a:prstGeom>
        </p:spPr>
      </p:pic>
      <p:grpSp>
        <p:nvGrpSpPr>
          <p:cNvPr id="9" name="object 32">
            <a:extLst>
              <a:ext uri="{FF2B5EF4-FFF2-40B4-BE49-F238E27FC236}">
                <a16:creationId xmlns:a16="http://schemas.microsoft.com/office/drawing/2014/main" id="{4E4401A2-83E9-FD15-D943-E3E50CB434AC}"/>
              </a:ext>
            </a:extLst>
          </p:cNvPr>
          <p:cNvGrpSpPr/>
          <p:nvPr/>
        </p:nvGrpSpPr>
        <p:grpSpPr>
          <a:xfrm>
            <a:off x="7287024" y="2663730"/>
            <a:ext cx="683356" cy="853083"/>
            <a:chOff x="7044070" y="2464593"/>
            <a:chExt cx="655955" cy="866775"/>
          </a:xfrm>
        </p:grpSpPr>
        <p:pic>
          <p:nvPicPr>
            <p:cNvPr id="10" name="object 33">
              <a:extLst>
                <a:ext uri="{FF2B5EF4-FFF2-40B4-BE49-F238E27FC236}">
                  <a16:creationId xmlns:a16="http://schemas.microsoft.com/office/drawing/2014/main" id="{6E62189C-A003-E4BD-7C08-F405A23BF18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44070" y="2464593"/>
              <a:ext cx="655674" cy="687585"/>
            </a:xfrm>
            <a:prstGeom prst="rect">
              <a:avLst/>
            </a:prstGeom>
          </p:spPr>
        </p:pic>
        <p:pic>
          <p:nvPicPr>
            <p:cNvPr id="11" name="object 34">
              <a:extLst>
                <a:ext uri="{FF2B5EF4-FFF2-40B4-BE49-F238E27FC236}">
                  <a16:creationId xmlns:a16="http://schemas.microsoft.com/office/drawing/2014/main" id="{E43B00D1-DDF2-75C5-43E8-535907C466E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4070" y="3170039"/>
              <a:ext cx="655674" cy="160734"/>
            </a:xfrm>
            <a:prstGeom prst="rect">
              <a:avLst/>
            </a:prstGeom>
          </p:spPr>
        </p:pic>
        <p:pic>
          <p:nvPicPr>
            <p:cNvPr id="12" name="object 35">
              <a:extLst>
                <a:ext uri="{FF2B5EF4-FFF2-40B4-BE49-F238E27FC236}">
                  <a16:creationId xmlns:a16="http://schemas.microsoft.com/office/drawing/2014/main" id="{6784F100-38D3-1B6E-AB32-39E2109D0D5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44070" y="2464593"/>
              <a:ext cx="655674" cy="866179"/>
            </a:xfrm>
            <a:prstGeom prst="rect">
              <a:avLst/>
            </a:prstGeom>
          </p:spPr>
        </p:pic>
      </p:grpSp>
      <p:pic>
        <p:nvPicPr>
          <p:cNvPr id="13" name="object 4">
            <a:extLst>
              <a:ext uri="{FF2B5EF4-FFF2-40B4-BE49-F238E27FC236}">
                <a16:creationId xmlns:a16="http://schemas.microsoft.com/office/drawing/2014/main" id="{E0C199BD-CD61-3D24-2751-077E5354500D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19439" y="2685766"/>
            <a:ext cx="815162" cy="83046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>
            <a:extLst>
              <a:ext uri="{FF2B5EF4-FFF2-40B4-BE49-F238E27FC236}">
                <a16:creationId xmlns:a16="http://schemas.microsoft.com/office/drawing/2014/main" id="{F9CD0B3B-48BB-E876-C525-A877833FC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229" y="949909"/>
            <a:ext cx="3187083" cy="4789503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763479" y="652508"/>
            <a:ext cx="5619565" cy="48383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권한 분리 및 상속 구조 검증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808229" y="5903650"/>
            <a:ext cx="2206101" cy="20418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16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상위 권한은 하위에서 제어 불가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1514337" y="6476260"/>
            <a:ext cx="390618" cy="199747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1300">
                <a:latin typeface="Arial"/>
                <a:ea typeface="Arial"/>
              </a:rPr>
              <a:t>4/20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721D8F-DB71-1101-0628-35C6ABEA865B}"/>
              </a:ext>
            </a:extLst>
          </p:cNvPr>
          <p:cNvSpPr txBox="1"/>
          <p:nvPr/>
        </p:nvSpPr>
        <p:spPr>
          <a:xfrm>
            <a:off x="763479" y="1390918"/>
            <a:ext cx="7633546" cy="4388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테스트 결과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•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Entra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ID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기반의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RBAC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（역할 기반 접근 제어） 검증 수행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•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그룹（구독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관리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그룹）에서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할당된 권한이 하위 리소스에서 제어 불가능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•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상위 수준의 광범위한 권한이 하위 요소에 그대로 상속됨</a:t>
            </a:r>
          </a:p>
          <a:p>
            <a:pPr>
              <a:lnSpc>
                <a:spcPct val="120000"/>
              </a:lnSpc>
            </a:pP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문제점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•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세분된 권한 관리가 어려움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•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최소 권한 원칙 적용 제한</a:t>
            </a:r>
          </a:p>
          <a:p>
            <a:pPr>
              <a:lnSpc>
                <a:spcPct val="120000"/>
              </a:lnSpc>
            </a:pP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20000"/>
              </a:lnSpc>
            </a:pPr>
            <a:r>
              <a:rPr lang="ko-KR" altLang="en-US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개선 방안</a:t>
            </a: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• Tenant Level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에서의 권한 재설계 필요</a:t>
            </a:r>
          </a:p>
          <a:p>
            <a:pPr>
              <a:lnSpc>
                <a:spcPct val="120000"/>
              </a:lnSpc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•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불필요한 권한 확산 방지 체계 구축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F6F3C0A5-BD10-E0BC-1615-F23C0D922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040" y="5089434"/>
            <a:ext cx="4809632" cy="122953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8B178CFE-79F4-D9C9-2AAF-96AFB7D60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669" y="1606858"/>
            <a:ext cx="594804" cy="616998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77048" y="550415"/>
            <a:ext cx="6285390" cy="5415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사용자 정의 역할 및 </a:t>
            </a:r>
            <a:r>
              <a:rPr lang="en-US" sz="3300" b="1" dirty="0">
                <a:solidFill>
                  <a:srgbClr val="0F6FB6"/>
                </a:solidFill>
                <a:latin typeface="+mj-lt"/>
                <a:ea typeface="KoPub돋움체 Bold" panose="02020603020101020101" pitchFamily="18" charset="-127"/>
              </a:rPr>
              <a:t>Keyless</a:t>
            </a:r>
            <a:r>
              <a:rPr lang="en-US" sz="3300" b="1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인증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40780" y="1724487"/>
            <a:ext cx="4212268" cy="51046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2100" dirty="0">
                <a:solidFill>
                  <a:srgbClr val="0F6FB6"/>
                </a:solidFill>
                <a:ea typeface="KoPub돋움체 Bold" panose="02020603020101020101" pitchFamily="18" charset="-127"/>
              </a:rPr>
              <a:t> </a:t>
            </a:r>
            <a:r>
              <a:rPr lang="en-US" sz="2200" b="1" dirty="0">
                <a:solidFill>
                  <a:srgbClr val="0F6FB6"/>
                </a:solidFill>
                <a:ea typeface="KoPub돋움체 Bold" panose="02020603020101020101" pitchFamily="18" charset="-127"/>
              </a:rPr>
              <a:t>VM Restart Operator </a:t>
            </a:r>
            <a:r>
              <a:rPr lang="ko" sz="2100" dirty="0">
                <a:solidFill>
                  <a:srgbClr val="0F6FB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역할 검증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140780" y="2370337"/>
            <a:ext cx="4074851" cy="980983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0">
              <a:spcAft>
                <a:spcPts val="490"/>
              </a:spcAft>
            </a:pPr>
            <a:r>
              <a:rPr lang="ko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특정 </a:t>
            </a:r>
            <a:r>
              <a:rPr 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VM</a:t>
            </a:r>
            <a:r>
              <a:rPr lang="ko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에 대한 재시작만 허용</a:t>
            </a:r>
          </a:p>
          <a:p>
            <a:pPr indent="0">
              <a:spcAft>
                <a:spcPts val="490"/>
              </a:spcAft>
            </a:pPr>
            <a:r>
              <a:rPr 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삭제 작업 시도 시 권한 부족으로 차단</a:t>
            </a:r>
          </a:p>
          <a:p>
            <a:pPr indent="0"/>
            <a:r>
              <a:rPr 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 정의 역할의 세분화된 제어 입증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337394" y="1748900"/>
            <a:ext cx="3488924" cy="35066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2200" b="1" dirty="0">
                <a:solidFill>
                  <a:srgbClr val="0F6FB6"/>
                </a:solidFill>
              </a:rPr>
              <a:t>Managed Identity </a:t>
            </a:r>
            <a:r>
              <a:rPr lang="ko" sz="2100" dirty="0">
                <a:solidFill>
                  <a:srgbClr val="0F6FB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인증 검증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835805" y="2374776"/>
            <a:ext cx="3795204" cy="976544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>
              <a:spcAft>
                <a:spcPts val="490"/>
              </a:spcAft>
            </a:pPr>
            <a:r>
              <a:rPr 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소스코드에 키를 직접 저장하지 않음</a:t>
            </a:r>
          </a:p>
          <a:p>
            <a:pPr>
              <a:spcAft>
                <a:spcPts val="490"/>
              </a:spcAft>
            </a:pPr>
            <a:r>
              <a:rPr 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시스템 할당 </a:t>
            </a:r>
            <a:r>
              <a:rPr 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ID</a:t>
            </a:r>
            <a:r>
              <a:rPr lang="ko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로 </a:t>
            </a:r>
            <a:r>
              <a:rPr 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JWT </a:t>
            </a:r>
            <a:r>
              <a:rPr lang="ko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토큰 발급</a:t>
            </a:r>
          </a:p>
          <a:p>
            <a:pPr>
              <a:spcAft>
                <a:spcPts val="490"/>
              </a:spcAft>
            </a:pPr>
            <a:r>
              <a:rPr lang="en-US" altLang="ko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자격 증명 노출 위험 감소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D2D51DE-70B7-4A8A-EF03-2AF1FDB8B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240" y="3546634"/>
            <a:ext cx="4479523" cy="260533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F5BB68D-2E86-4BB9-A7AF-8B993499EA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805" y="3429000"/>
            <a:ext cx="4203318" cy="1029163"/>
          </a:xfrm>
          <a:prstGeom prst="rect">
            <a:avLst/>
          </a:prstGeom>
        </p:spPr>
      </p:pic>
      <p:pic>
        <p:nvPicPr>
          <p:cNvPr id="27" name="그림 26" descr="텍스트, 스크린샷, 폰트, 명함이(가) 표시된 사진&#10;&#10;자동 생성된 설명">
            <a:extLst>
              <a:ext uri="{FF2B5EF4-FFF2-40B4-BE49-F238E27FC236}">
                <a16:creationId xmlns:a16="http://schemas.microsoft.com/office/drawing/2014/main" id="{56E6EB01-1F44-2BBD-C776-448143EE65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371" y="4914587"/>
            <a:ext cx="5426970" cy="138734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E852B57F-40CE-C5DB-06CC-6BE6C5D6B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18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122" y="1988598"/>
            <a:ext cx="4532050" cy="171782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812307" y="656947"/>
            <a:ext cx="6036816" cy="63094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0">
              <a:spcAft>
                <a:spcPts val="2240"/>
              </a:spcAft>
            </a:pPr>
            <a:r>
              <a:rPr lang="en-US" sz="3300" b="1" dirty="0">
                <a:solidFill>
                  <a:srgbClr val="0F6FB6"/>
                </a:solidFill>
                <a:latin typeface="+mj-lt"/>
              </a:rPr>
              <a:t>Azure Policy</a:t>
            </a:r>
            <a:r>
              <a:rPr lang="ko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를 통한 배포 제어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849122" y="3944060"/>
            <a:ext cx="3255479" cy="25776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2000" b="1" dirty="0">
                <a:latin typeface="+mj-lt"/>
              </a:rPr>
              <a:t>CLI </a:t>
            </a:r>
            <a:r>
              <a:rPr lang="ko" sz="2000" b="1" dirty="0">
                <a:latin typeface="+mj-lt"/>
                <a:ea typeface="Arial"/>
              </a:rPr>
              <a:t>- </a:t>
            </a:r>
            <a:r>
              <a:rPr lang="en-US" sz="2000" b="1" dirty="0">
                <a:latin typeface="+mj-lt"/>
              </a:rPr>
              <a:t>Policy Violation  </a:t>
            </a:r>
            <a:r>
              <a:rPr lang="ko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에러 로그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1469949" y="6494015"/>
            <a:ext cx="381740" cy="186431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1300">
                <a:solidFill>
                  <a:srgbClr val="0F6FB6"/>
                </a:solidFill>
                <a:latin typeface="Arial"/>
                <a:ea typeface="Arial"/>
              </a:rPr>
              <a:t>6/20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33A944F-F687-F477-05B9-DA7040B1B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122" y="4539159"/>
            <a:ext cx="4419892" cy="148610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F0FC66-BD38-9A6C-E793-BC368F96BBF8}"/>
              </a:ext>
            </a:extLst>
          </p:cNvPr>
          <p:cNvSpPr/>
          <p:nvPr/>
        </p:nvSpPr>
        <p:spPr>
          <a:xfrm>
            <a:off x="6849122" y="1393481"/>
            <a:ext cx="4059284" cy="25776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-KR" altLang="en-US" sz="2000" b="1" dirty="0">
                <a:latin typeface="+mj-lt"/>
              </a:rPr>
              <a:t> </a:t>
            </a:r>
            <a:r>
              <a:rPr lang="en-US" altLang="ko-KR" sz="2000" b="1" dirty="0">
                <a:latin typeface="+mj-lt"/>
              </a:rPr>
              <a:t>Azure Portal </a:t>
            </a:r>
            <a:r>
              <a:rPr lang="en-US" altLang="ko-KR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-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배포 유효성 검사 실패 </a:t>
            </a:r>
            <a:endParaRPr lang="ko" sz="20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DE4204-F1FF-F886-094A-D450CA3AD31B}"/>
              </a:ext>
            </a:extLst>
          </p:cNvPr>
          <p:cNvSpPr txBox="1"/>
          <p:nvPr/>
        </p:nvSpPr>
        <p:spPr>
          <a:xfrm>
            <a:off x="618186" y="1651247"/>
            <a:ext cx="488109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정책 설정</a:t>
            </a:r>
            <a:r>
              <a:rPr lang="en-US" altLang="ko-KR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특정 스토리지 계정 생성 차단 정책 적용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-KR" altLang="en-US" sz="2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검증 방법</a:t>
            </a:r>
            <a:r>
              <a:rPr lang="en-US" altLang="ko-KR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en-US" altLang="ko-KR" sz="2200" dirty="0">
                <a:latin typeface="+mj-lt"/>
                <a:ea typeface="KoPub돋움체 Light" panose="02020603020101020101" pitchFamily="18" charset="-127"/>
              </a:rPr>
              <a:t>Azure Portal </a:t>
            </a:r>
            <a:r>
              <a:rPr lang="ko-KR" altLang="en-US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및 </a:t>
            </a:r>
            <a:r>
              <a:rPr lang="en-US" altLang="ko-KR" sz="2200" dirty="0">
                <a:latin typeface="+mj-lt"/>
                <a:ea typeface="KoPub돋움체 Light" panose="02020603020101020101" pitchFamily="18" charset="-127"/>
              </a:rPr>
              <a:t>CLI</a:t>
            </a:r>
            <a:r>
              <a:rPr lang="ko-KR" altLang="en-US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를 통한 리소스 생성 시도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-KR" altLang="en-US" sz="2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 확인</a:t>
            </a:r>
            <a:r>
              <a:rPr lang="en-US" altLang="ko-KR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'</a:t>
            </a:r>
            <a:r>
              <a:rPr lang="en-US" altLang="ko-KR" sz="2200" dirty="0">
                <a:latin typeface="+mj-lt"/>
                <a:ea typeface="KoPub돋움체 Light" panose="02020603020101020101" pitchFamily="18" charset="-127"/>
              </a:rPr>
              <a:t>Policy Violation</a:t>
            </a:r>
            <a:r>
              <a:rPr lang="en-US" altLang="ko-KR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' </a:t>
            </a:r>
            <a:r>
              <a:rPr lang="ko-KR" altLang="en-US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메시지와 함께 차단됨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-KR" altLang="en-US" sz="22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효과</a:t>
            </a:r>
            <a:r>
              <a:rPr lang="en-US" altLang="ko-KR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조직의 보안 표준 강제 및 </a:t>
            </a:r>
            <a:r>
              <a:rPr lang="ko-KR" altLang="en-US" sz="22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비준수</a:t>
            </a:r>
            <a:r>
              <a:rPr lang="ko-KR" altLang="en-US" sz="22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리소스 배포 방지</a:t>
            </a:r>
          </a:p>
          <a:p>
            <a:endParaRPr lang="ko-KR" altLang="en-US" dirty="0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CAF7B1D-325C-CCB4-7FF1-1A37ADB49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262" y="3144452"/>
            <a:ext cx="876300" cy="56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81CDACAD-EB56-9AC6-0937-A06AC0050A07}"/>
              </a:ext>
            </a:extLst>
          </p:cNvPr>
          <p:cNvSpPr/>
          <p:nvPr/>
        </p:nvSpPr>
        <p:spPr>
          <a:xfrm>
            <a:off x="0" y="5361286"/>
            <a:ext cx="12193588" cy="1496714"/>
          </a:xfrm>
          <a:prstGeom prst="rect">
            <a:avLst/>
          </a:prstGeom>
          <a:solidFill>
            <a:srgbClr val="F0F1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08120" y="514904"/>
            <a:ext cx="4603072" cy="457200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>
              <a:spcAft>
                <a:spcPts val="2240"/>
              </a:spcAft>
            </a:pPr>
            <a:r>
              <a:rPr lang="ko" altLang="en-US" sz="3300" b="1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네트워크 보안 아키텍처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601517" y="5646198"/>
            <a:ext cx="5495277" cy="856695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0">
              <a:spcAft>
                <a:spcPts val="210"/>
              </a:spcAft>
            </a:pPr>
            <a:r>
              <a:rPr 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다계층 네트워크 보안 아키텍처 구축</a:t>
            </a:r>
          </a:p>
          <a:p>
            <a:pPr indent="0">
              <a:spcAft>
                <a:spcPts val="210"/>
              </a:spcAft>
            </a:pPr>
            <a:r>
              <a:rPr 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사용자 트래픽: </a:t>
            </a:r>
            <a:r>
              <a:rPr lang="en-US" dirty="0">
                <a:latin typeface="+mj-lt"/>
                <a:ea typeface="KoPub돋움체 Light" panose="02020603020101020101" pitchFamily="18" charset="-127"/>
              </a:rPr>
              <a:t>Front Door/WAF</a:t>
            </a:r>
            <a:r>
              <a:rPr lang="ko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를 통한 웹 공격 방어</a:t>
            </a:r>
          </a:p>
          <a:p>
            <a:pPr indent="0"/>
            <a:r>
              <a:rPr 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관리자 접근: </a:t>
            </a:r>
            <a:r>
              <a:rPr lang="en-US" dirty="0">
                <a:latin typeface="+mj-lt"/>
                <a:ea typeface="KoPub돋움체 Light" panose="02020603020101020101" pitchFamily="18" charset="-127"/>
              </a:rPr>
              <a:t>Bastion/VPN</a:t>
            </a:r>
            <a:r>
              <a:rPr lang="ko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을 통한 보안 접속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1465510" y="6502893"/>
            <a:ext cx="381740" cy="186431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1300">
                <a:latin typeface="Arial"/>
                <a:ea typeface="Arial"/>
              </a:rPr>
              <a:t>7/20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79A8C65-EAEE-2C42-E7AF-CBE1382E1D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66"/>
          <a:stretch/>
        </p:blipFill>
        <p:spPr>
          <a:xfrm>
            <a:off x="0" y="1094704"/>
            <a:ext cx="12195792" cy="426658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2A0C8D8-289A-D3E2-18D2-4D1221DD0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666750" y="471487"/>
            <a:ext cx="5467350" cy="4714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3300" b="1" dirty="0">
                <a:solidFill>
                  <a:srgbClr val="07479A"/>
                </a:solidFill>
                <a:latin typeface="+mj-lt"/>
              </a:rPr>
              <a:t>WAF </a:t>
            </a:r>
            <a:r>
              <a:rPr lang="ko-KR" altLang="en-US" sz="3300" b="1" dirty="0">
                <a:solidFill>
                  <a:srgbClr val="07479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및</a:t>
            </a:r>
            <a:r>
              <a:rPr lang="en-US" sz="3300" b="1" dirty="0">
                <a:solidFill>
                  <a:srgbClr val="07479A"/>
                </a:solidFill>
                <a:latin typeface="+mj-lt"/>
              </a:rPr>
              <a:t> DDoS </a:t>
            </a:r>
            <a:r>
              <a:rPr lang="ko" sz="3100" dirty="0">
                <a:solidFill>
                  <a:srgbClr val="07479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방어 성</a:t>
            </a:r>
            <a:r>
              <a:rPr lang="ko-KR" altLang="en-US" sz="3100" dirty="0">
                <a:solidFill>
                  <a:srgbClr val="07479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능</a:t>
            </a:r>
            <a:r>
              <a:rPr lang="ko" sz="3100" dirty="0">
                <a:solidFill>
                  <a:srgbClr val="07479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검</a:t>
            </a:r>
            <a:r>
              <a:rPr lang="ko-KR" altLang="en-US" sz="3100" dirty="0">
                <a:solidFill>
                  <a:srgbClr val="07479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증</a:t>
            </a:r>
            <a:endParaRPr lang="ko" sz="3100" dirty="0">
              <a:solidFill>
                <a:srgbClr val="07479A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014191" y="5181600"/>
            <a:ext cx="8165206" cy="3524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 algn="r"/>
            <a:r>
              <a:rPr lang="en-US" sz="23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WAF</a:t>
            </a:r>
            <a:r>
              <a:rPr lang="ko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가 대</a:t>
            </a:r>
            <a:r>
              <a:rPr lang="ko-KR" altLang="en-US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량</a:t>
            </a:r>
            <a:r>
              <a:rPr lang="ko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의 악의적 트</a:t>
            </a:r>
            <a:r>
              <a:rPr lang="ko-KR" altLang="en-US" sz="21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래픽</a:t>
            </a:r>
            <a:r>
              <a:rPr lang="ko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으로부터 백엔드 시스</a:t>
            </a:r>
            <a:r>
              <a:rPr lang="ko-KR" altLang="en-US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템</a:t>
            </a:r>
            <a:r>
              <a:rPr lang="ko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을 </a:t>
            </a:r>
            <a:r>
              <a:rPr lang="ko-KR" altLang="en-US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효과</a:t>
            </a:r>
            <a:r>
              <a:rPr lang="ko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적으로 보</a:t>
            </a:r>
            <a:r>
              <a:rPr lang="ko-KR" altLang="en-US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호</a:t>
            </a:r>
            <a:r>
              <a:rPr lang="ko" sz="21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함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315A62-2A69-69D1-CD12-D2B9315203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22" r="5309" b="2107"/>
          <a:stretch/>
        </p:blipFill>
        <p:spPr>
          <a:xfrm>
            <a:off x="6096795" y="1795396"/>
            <a:ext cx="4850248" cy="2660694"/>
          </a:xfrm>
          <a:prstGeom prst="rect">
            <a:avLst/>
          </a:prstGeom>
          <a:solidFill>
            <a:srgbClr val="FAFAFA"/>
          </a:solid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F63595-5DE9-EBF3-F666-52284C0AF523}"/>
              </a:ext>
            </a:extLst>
          </p:cNvPr>
          <p:cNvSpPr txBox="1"/>
          <p:nvPr/>
        </p:nvSpPr>
        <p:spPr>
          <a:xfrm>
            <a:off x="1378039" y="1795396"/>
            <a:ext cx="4718755" cy="2811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검증도구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Locust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부하 테스트 도구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시나리오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1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분간 </a:t>
            </a:r>
            <a:r>
              <a:rPr lang="ko-KR" altLang="en-US" sz="20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대랑의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HTTP Flooding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공격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총 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5,880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건 중 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5,685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건 차단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0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차단율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96.68%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결과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20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백엔드서버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보호 성공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315E3BF5-CFAC-AA62-E452-581CEF21E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79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634753" y="519343"/>
            <a:ext cx="6019060" cy="5237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" altLang="en-US" sz="3300" b="1" dirty="0">
                <a:solidFill>
                  <a:srgbClr val="07479A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내부망 격리 및 방화벽 제어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55C28AD-F6E4-7DB3-1908-EA51767D7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879" y="1754372"/>
            <a:ext cx="6109673" cy="245899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C356CE-C2C2-A038-607B-43E609467A41}"/>
              </a:ext>
            </a:extLst>
          </p:cNvPr>
          <p:cNvSpPr txBox="1"/>
          <p:nvPr/>
        </p:nvSpPr>
        <p:spPr>
          <a:xfrm>
            <a:off x="586910" y="4433522"/>
            <a:ext cx="5186498" cy="143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Web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서버에서 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DB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서버로의 직접 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SSH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접속 시도 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 NSG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정책에 의해 연결 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Timeout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발생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 </a:t>
            </a:r>
            <a:r>
              <a:rPr lang="ko-KR" altLang="en-US" sz="20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서브넷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간 불필요한 통신 차단 확인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E0C172-CE64-6908-7977-5220F6C6DF6A}"/>
              </a:ext>
            </a:extLst>
          </p:cNvPr>
          <p:cNvSpPr txBox="1"/>
          <p:nvPr/>
        </p:nvSpPr>
        <p:spPr>
          <a:xfrm>
            <a:off x="6420182" y="4502813"/>
            <a:ext cx="5398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허용 되지 않은 도메인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(Dropbox) – SSL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연결 차단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0B0802-FD9F-E9C3-A2E6-503A72E7CFDA}"/>
              </a:ext>
            </a:extLst>
          </p:cNvPr>
          <p:cNvSpPr txBox="1"/>
          <p:nvPr/>
        </p:nvSpPr>
        <p:spPr>
          <a:xfrm>
            <a:off x="6420182" y="4939033"/>
            <a:ext cx="45561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-&gt; </a:t>
            </a:r>
            <a:r>
              <a:rPr lang="ko-KR" altLang="en-US" sz="2000" b="1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외부 비인가 통신 효과적 제어</a:t>
            </a:r>
          </a:p>
        </p:txBody>
      </p:sp>
      <p:pic>
        <p:nvPicPr>
          <p:cNvPr id="20" name="그림 19" descr="라인, 그래프, 폰트, 텍스트이(가) 표시된 사진&#10;&#10;자동 생성된 설명">
            <a:extLst>
              <a:ext uri="{FF2B5EF4-FFF2-40B4-BE49-F238E27FC236}">
                <a16:creationId xmlns:a16="http://schemas.microsoft.com/office/drawing/2014/main" id="{8FC4F716-2DB0-EA46-7564-879A209E2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639" y="1754372"/>
            <a:ext cx="5876191" cy="2458998"/>
          </a:xfrm>
          <a:prstGeom prst="rect">
            <a:avLst/>
          </a:prstGeom>
        </p:spPr>
      </p:pic>
      <p:pic>
        <p:nvPicPr>
          <p:cNvPr id="24" name="그림 23" descr="라인, 그래프, 폰트, 텍스트이(가) 표시된 사진&#10;&#10;자동 생성된 설명">
            <a:extLst>
              <a:ext uri="{FF2B5EF4-FFF2-40B4-BE49-F238E27FC236}">
                <a16:creationId xmlns:a16="http://schemas.microsoft.com/office/drawing/2014/main" id="{C7E01006-60AE-D06D-6961-6B149F1F787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2" r="86577" b="86086"/>
          <a:stretch/>
        </p:blipFill>
        <p:spPr>
          <a:xfrm>
            <a:off x="6546217" y="4091371"/>
            <a:ext cx="550042" cy="342151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DC487C3B-5F8D-EA30-5FA9-E6F166F1B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719091" y="648069"/>
            <a:ext cx="6138909" cy="998738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indent="0">
              <a:spcAft>
                <a:spcPts val="980"/>
              </a:spcAft>
            </a:pPr>
            <a:r>
              <a:rPr lang="en-US" sz="3300" b="1" dirty="0">
                <a:solidFill>
                  <a:srgbClr val="0F6FB6"/>
                </a:solidFill>
                <a:latin typeface="+mj-lt"/>
              </a:rPr>
              <a:t>JIT VM </a:t>
            </a:r>
            <a:r>
              <a:rPr lang="ko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접근 제어</a:t>
            </a:r>
          </a:p>
          <a:p>
            <a:pPr indent="0"/>
            <a:r>
              <a:rPr lang="ko" sz="21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관리 포트의 한시적 개방을 통한 보안 접근 강화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36E596A-F7CF-A57C-3C31-E68D00503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954" y="1646807"/>
            <a:ext cx="4002543" cy="47768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2A54073-81C2-3159-DA71-DE72E04807DD}"/>
              </a:ext>
            </a:extLst>
          </p:cNvPr>
          <p:cNvSpPr txBox="1"/>
          <p:nvPr/>
        </p:nvSpPr>
        <p:spPr>
          <a:xfrm>
            <a:off x="719091" y="2073153"/>
            <a:ext cx="6373939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• JIT(Just-ln-Time) VM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접근 제어</a:t>
            </a: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관리 포트</a:t>
            </a: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(22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번</a:t>
            </a: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)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 평소에는 </a:t>
            </a:r>
            <a:r>
              <a:rPr lang="ko-KR" altLang="en-US" sz="22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닫아두고</a:t>
            </a: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필요 시에 한시적 개방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•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검증 과정</a:t>
            </a: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초기 </a:t>
            </a: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VM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관리 포트（</a:t>
            </a: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22</a:t>
            </a:r>
            <a:r>
              <a:rPr lang="ko-KR" altLang="en-US" sz="22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번）접속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시도 </a:t>
            </a: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–&gt;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접속 실패 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 JIT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요청 및 승인 </a:t>
            </a: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-&gt;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접속 성공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설정 시간 만료 후 </a:t>
            </a: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-&gt;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포트 자동 차단</a:t>
            </a:r>
          </a:p>
          <a:p>
            <a:pPr>
              <a:lnSpc>
                <a:spcPct val="150000"/>
              </a:lnSpc>
            </a:pP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•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효과</a:t>
            </a:r>
            <a:r>
              <a:rPr lang="en-US" altLang="ko-KR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 </a:t>
            </a:r>
            <a:r>
              <a:rPr lang="ko-KR" altLang="en-US" sz="22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공격 표면 감소 및 관리자 접근의 보안성 강화</a:t>
            </a:r>
          </a:p>
          <a:p>
            <a:endParaRPr lang="ko-KR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0A524A82-8EBD-BD93-C2D7-211920A86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492710" y="510466"/>
            <a:ext cx="5863701" cy="45276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내부 확산 방지 및 컨테이너 보안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2BCFC0F-A4C8-1186-864C-8A159CBC4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748" y="3883114"/>
            <a:ext cx="2501466" cy="226768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8D49863-5C1D-74C8-92CA-7A7D18D83F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5820" y="3883113"/>
            <a:ext cx="2482653" cy="20988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255973B-CE8C-565E-1CD7-1020C0C92A9B}"/>
              </a:ext>
            </a:extLst>
          </p:cNvPr>
          <p:cNvSpPr txBox="1"/>
          <p:nvPr/>
        </p:nvSpPr>
        <p:spPr>
          <a:xfrm>
            <a:off x="492709" y="1389802"/>
            <a:ext cx="5228839" cy="2493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Lateral Movement </a:t>
            </a:r>
            <a:r>
              <a:rPr lang="ko-KR" alt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차단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웹 서버 탈취 시나리오에서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DB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및 관리망으로의 내부 확산 시도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다계층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보안 아키텍처와 세분화된 네트워크 제어로 모든 접근 차단 확인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내부 </a:t>
            </a:r>
            <a:r>
              <a:rPr lang="ko-KR" altLang="en-US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위협으로부터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핵심 자산 효과적 보호 검증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AA810D-2A3E-785A-48B0-B663D9BD675C}"/>
              </a:ext>
            </a:extLst>
          </p:cNvPr>
          <p:cNvSpPr txBox="1"/>
          <p:nvPr/>
        </p:nvSpPr>
        <p:spPr>
          <a:xfrm>
            <a:off x="6593983" y="1389802"/>
            <a:ext cx="5106896" cy="2043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ACR </a:t>
            </a:r>
            <a:r>
              <a:rPr lang="ko-KR" alt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보안 검증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Azure Container Registry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인증 없는 접근 시도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‘401 Unauthorized’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에러 반환 확인</a:t>
            </a:r>
          </a:p>
          <a:p>
            <a:pPr>
              <a:lnSpc>
                <a:spcPct val="20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컨테이너 이미지 저장소 비인가 접근 방지 검증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0C10F94B-08CA-6DD0-1A5F-244ABA9E5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745724" y="537099"/>
            <a:ext cx="3515557" cy="47495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" altLang="en-US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암호화 및 키 관리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A51818-8B04-6619-7B3C-C1CFC3ED5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880" y="4434396"/>
            <a:ext cx="8173810" cy="15671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06AB95-D93C-D2D2-483B-0BF27CFE8297}"/>
              </a:ext>
            </a:extLst>
          </p:cNvPr>
          <p:cNvSpPr txBox="1"/>
          <p:nvPr/>
        </p:nvSpPr>
        <p:spPr>
          <a:xfrm>
            <a:off x="745724" y="1605769"/>
            <a:ext cx="5351864" cy="216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Key Vault RBAC </a:t>
            </a:r>
            <a:r>
              <a:rPr lang="ko-KR" alt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모델</a:t>
            </a:r>
            <a:endParaRPr lang="en-US" altLang="ko-KR" sz="24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ko-KR" altLang="en-US" sz="24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'Secrets Officer'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역할만 키 생성 권한 보유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최소 권한 원칙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(Least Privilege)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준수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권한 통제를 통한 키 관리 강화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D36188-807F-78D8-2A56-54D0A15559B4}"/>
              </a:ext>
            </a:extLst>
          </p:cNvPr>
          <p:cNvSpPr txBox="1"/>
          <p:nvPr/>
        </p:nvSpPr>
        <p:spPr>
          <a:xfrm>
            <a:off x="6586853" y="1575651"/>
            <a:ext cx="5351864" cy="2534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암호화 적용</a:t>
            </a:r>
            <a:endParaRPr lang="en-US" altLang="ko-KR" sz="24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DB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저장 데이터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TDE(Transparent Data Encryption)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적용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VM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디스크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ADE(Azure Disk Encryption)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구현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데이터 유출 시에도 기밀성 보장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1380711-9EC3-B9C8-7C6F-823A2D05C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425" y="2483012"/>
            <a:ext cx="1010551" cy="94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F70E7A32-C6EC-F0E3-6BDA-3F50802C6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636" y="4496539"/>
            <a:ext cx="2152835" cy="124287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662" y="4052656"/>
            <a:ext cx="4629704" cy="19797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30314" y="616998"/>
            <a:ext cx="5655076" cy="48827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" altLang="en-US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스토리지 보안 및 감사 로그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CB28F-80EF-2B47-A1D9-A91AE7AC9C71}"/>
              </a:ext>
            </a:extLst>
          </p:cNvPr>
          <p:cNvSpPr txBox="1"/>
          <p:nvPr/>
        </p:nvSpPr>
        <p:spPr>
          <a:xfrm>
            <a:off x="630314" y="1504135"/>
            <a:ext cx="5319725" cy="198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SAS </a:t>
            </a:r>
            <a:r>
              <a:rPr lang="ko-KR" alt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토큰 만료 제어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1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분 유효기간 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SAS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토큰 생성 테스트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토큰 만료 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분 후 접근 시도 </a:t>
            </a: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-&gt; 403 Forbidden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시간 제한 접근 통제 정상 작동 확인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C6ECE2-4C39-8C7D-E555-85719E0B3E13}"/>
              </a:ext>
            </a:extLst>
          </p:cNvPr>
          <p:cNvSpPr txBox="1"/>
          <p:nvPr/>
        </p:nvSpPr>
        <p:spPr>
          <a:xfrm>
            <a:off x="6570694" y="1504135"/>
            <a:ext cx="5319724" cy="198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240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en-US" altLang="ko-KR" dirty="0"/>
              <a:t>SQL Auditing </a:t>
            </a:r>
            <a:r>
              <a:rPr lang="ko-KR" altLang="en-US" dirty="0"/>
              <a:t>기능</a:t>
            </a:r>
          </a:p>
          <a:p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DB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접근 및 쿼리 실행 이력 자동 기록</a:t>
            </a:r>
          </a:p>
          <a:p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Azure Storage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에 로그 파일 저장 확인</a:t>
            </a:r>
          </a:p>
          <a:p>
            <a:r>
              <a:rPr lang="en-US" altLang="ko-KR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보안 사고 추적 및 분석 자료로 활용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620FB09-D0B5-09B3-108B-53C0057D7A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1471" y="4845990"/>
            <a:ext cx="2263027" cy="39305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64FA77F7-6F32-3617-95C8-6E8DDC941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442" y="1513642"/>
            <a:ext cx="2831977" cy="255233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12559" y="510466"/>
            <a:ext cx="5850384" cy="44388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" altLang="en-US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모니터링 및 클라우드 보안 태세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EDFE303-9D35-10FB-D794-29653FCCD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80" y="1513642"/>
            <a:ext cx="4469270" cy="255233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BCDFDE6-E5C7-38D3-DAE8-8E08E1E6F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9450" y="5902524"/>
            <a:ext cx="8296275" cy="6096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1AC2037-5194-CBE2-96F5-DD5D435CBE2B}"/>
              </a:ext>
            </a:extLst>
          </p:cNvPr>
          <p:cNvSpPr txBox="1"/>
          <p:nvPr/>
        </p:nvSpPr>
        <p:spPr>
          <a:xfrm>
            <a:off x="431177" y="4322685"/>
            <a:ext cx="5850384" cy="1574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Azure Monitor: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중앙 </a:t>
            </a:r>
            <a:r>
              <a:rPr lang="ko-KR" altLang="en-US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집중식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로그 </a:t>
            </a:r>
            <a:r>
              <a:rPr lang="ko-KR" altLang="en-US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수집소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(Log Analytics Workspace)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구성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다양한 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Azure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리소스의 로그 데이터 통합 관리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보안 이벤트에 대한 가시성 확보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38A4FD-3349-431A-8CF0-0A4A69E0E5C7}"/>
              </a:ext>
            </a:extLst>
          </p:cNvPr>
          <p:cNvSpPr txBox="1"/>
          <p:nvPr/>
        </p:nvSpPr>
        <p:spPr>
          <a:xfrm>
            <a:off x="6507832" y="4278822"/>
            <a:ext cx="5512159" cy="1636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000" indent="-127000">
              <a:lnSpc>
                <a:spcPct val="110000"/>
              </a:lnSpc>
            </a:pPr>
            <a:r>
              <a:rPr lang="en-US" altLang="ko-KR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Microsoft Defender for Cloud:</a:t>
            </a:r>
          </a:p>
          <a:p>
            <a:pPr marL="91000" indent="-127000">
              <a:lnSpc>
                <a:spcPct val="11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클라우드 보안 태세 관리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(CSPM)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기능 제공</a:t>
            </a:r>
          </a:p>
          <a:p>
            <a:pPr marL="91000" indent="-127000">
              <a:lnSpc>
                <a:spcPct val="11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서버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스토리지 계정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데이터베이스 등 핵심 워크로드 보호 플랜 활성화</a:t>
            </a:r>
          </a:p>
          <a:p>
            <a:pPr marL="91000" indent="-127000">
              <a:lnSpc>
                <a:spcPct val="110000"/>
              </a:lnSpc>
            </a:pP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 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보안 취약점 식별 및 위협 방지</a:t>
            </a:r>
            <a:r>
              <a:rPr lang="en-US" altLang="ko-KR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탐지 기능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6F010A48-CB8A-9011-00FB-260D1A61E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39" y="1917576"/>
            <a:ext cx="6636059" cy="355550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1829" y="5384306"/>
            <a:ext cx="523782" cy="61256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292525" y="337914"/>
            <a:ext cx="5184559" cy="1176291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marL="167200" indent="12700">
              <a:spcAft>
                <a:spcPts val="490"/>
              </a:spcAft>
            </a:pPr>
            <a:r>
              <a:rPr lang="en-US" sz="3300" b="1" dirty="0">
                <a:solidFill>
                  <a:srgbClr val="0F6FB6"/>
                </a:solidFill>
                <a:latin typeface="+mj-lt"/>
              </a:rPr>
              <a:t>Microsoft Sentinel </a:t>
            </a:r>
            <a:r>
              <a:rPr lang="ko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구축</a:t>
            </a:r>
          </a:p>
          <a:p>
            <a:pPr marL="167200" indent="12700"/>
            <a:r>
              <a:rPr lang="ko" sz="20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지능형 위협 탐지 및 통합 관제 체계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0719786" y="6085642"/>
            <a:ext cx="807868" cy="16867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1100">
                <a:solidFill>
                  <a:srgbClr val="0F6FB6"/>
                </a:solidFill>
                <a:latin typeface="Arial"/>
              </a:rPr>
              <a:t>SIEM/SOAR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A08EBEB-BA15-AB7C-8FF1-4EBADE148B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23" y="5196858"/>
            <a:ext cx="211937" cy="32348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216BFF4-BCC3-7F6A-9B11-E0D4ACCF1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9614" y="5628880"/>
            <a:ext cx="4034707" cy="7359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819574-DB7B-5C5A-FEC6-4E51699EB83D}"/>
              </a:ext>
            </a:extLst>
          </p:cNvPr>
          <p:cNvSpPr txBox="1"/>
          <p:nvPr/>
        </p:nvSpPr>
        <p:spPr>
          <a:xfrm>
            <a:off x="8312349" y="1677729"/>
            <a:ext cx="3215305" cy="3080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클라우드 기반 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SIEM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솔루션 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AI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및 </a:t>
            </a:r>
            <a:r>
              <a:rPr lang="ko-KR" altLang="en-US" sz="20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머신러닝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기반분석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실시간 보안 이벤트 수집 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통합 대시보드 환경제공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신속한 위협 대응지원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D48E3B62-EBF1-5CBA-53E6-039C2A480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639192" y="585926"/>
            <a:ext cx="3373514" cy="470516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r>
              <a:rPr lang="ko" altLang="en-US" sz="310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취약점 진단개요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E4D389-2B49-3F55-45AE-AA564E2FA852}"/>
              </a:ext>
            </a:extLst>
          </p:cNvPr>
          <p:cNvSpPr txBox="1"/>
          <p:nvPr/>
        </p:nvSpPr>
        <p:spPr>
          <a:xfrm>
            <a:off x="639192" y="1697529"/>
            <a:ext cx="5053271" cy="3696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자체 구축한 </a:t>
            </a:r>
            <a:r>
              <a:rPr lang="ko-KR" altLang="en-US" sz="20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이커머스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애플리케이션 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'</a:t>
            </a:r>
            <a:r>
              <a:rPr lang="en-US" altLang="ko-KR" sz="20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Lupang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'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대상 진단 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OWASP Top 10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취약점을 의도적으로 내장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Azure Web Application Firewall(WAF) </a:t>
            </a:r>
          </a:p>
          <a:p>
            <a:pPr>
              <a:lnSpc>
                <a:spcPct val="200000"/>
              </a:lnSpc>
            </a:pP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방어 효과 검증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취약점 공격 시도 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vs WAF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차단 효과성 측정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5393999E-BA01-864B-4A2C-0EC548FDA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793" y="1697529"/>
            <a:ext cx="5521997" cy="407215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03933" y="381739"/>
            <a:ext cx="6427433" cy="4216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공격 시나리오 </a:t>
            </a:r>
            <a:r>
              <a:rPr lang="ko" sz="3100" b="1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1 - </a:t>
            </a:r>
            <a:r>
              <a:rPr lang="en-US" sz="3100" b="1" dirty="0">
                <a:solidFill>
                  <a:srgbClr val="0F6FB6"/>
                </a:solidFill>
                <a:latin typeface="+mj-lt"/>
                <a:ea typeface="KoPub돋움체 Bold" panose="02020603020101020101" pitchFamily="18" charset="-127"/>
              </a:rPr>
              <a:t>SSRF</a:t>
            </a:r>
            <a:r>
              <a:rPr lang="en-US" sz="3100" b="1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및 명령 주입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0ACCED3-F693-738C-B8E9-0A3705E6A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94" y="846081"/>
            <a:ext cx="10909587" cy="516583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>
            <a:extLst>
              <a:ext uri="{FF2B5EF4-FFF2-40B4-BE49-F238E27FC236}">
                <a16:creationId xmlns:a16="http://schemas.microsoft.com/office/drawing/2014/main" id="{8D7BE6BD-DF2A-9F0C-4B53-F39782191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/>
          <p:cNvSpPr/>
          <p:nvPr/>
        </p:nvSpPr>
        <p:spPr>
          <a:xfrm>
            <a:off x="639192" y="1828800"/>
            <a:ext cx="5349484" cy="3728621"/>
          </a:xfrm>
          <a:prstGeom prst="rect">
            <a:avLst/>
          </a:prstGeom>
          <a:noFill/>
        </p:spPr>
        <p:txBody>
          <a:bodyPr lIns="0" tIns="0" rIns="0" bIns="0">
            <a:noAutofit/>
          </a:bodyPr>
          <a:lstStyle/>
          <a:p>
            <a:pPr marL="198642" indent="-228600">
              <a:lnSpc>
                <a:spcPct val="120000"/>
              </a:lnSpc>
            </a:pPr>
            <a:r>
              <a:rPr 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공격 목적: </a:t>
            </a:r>
            <a:r>
              <a:rPr lang="ko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로그인 우회 및</a:t>
            </a:r>
          </a:p>
          <a:p>
            <a:pPr marL="198642" indent="12700">
              <a:lnSpc>
                <a:spcPct val="120000"/>
              </a:lnSpc>
              <a:spcAft>
                <a:spcPts val="630"/>
              </a:spcAft>
            </a:pPr>
            <a:r>
              <a:rPr lang="ko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데이터베이스 정보 유출</a:t>
            </a:r>
          </a:p>
          <a:p>
            <a:pPr marL="198642" indent="-228600">
              <a:lnSpc>
                <a:spcPct val="120000"/>
              </a:lnSpc>
              <a:spcAft>
                <a:spcPts val="630"/>
              </a:spcAft>
            </a:pPr>
            <a:r>
              <a:rPr lang="ko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공격 방식: </a:t>
            </a:r>
            <a:r>
              <a:rPr lang="ko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악의적인 </a:t>
            </a:r>
            <a:r>
              <a:rPr 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SQL </a:t>
            </a:r>
            <a:r>
              <a:rPr lang="ko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구문을 입력하여 인증 절차 우회 시도</a:t>
            </a:r>
          </a:p>
          <a:p>
            <a:pPr marL="198642" indent="-228600">
              <a:lnSpc>
                <a:spcPct val="120000"/>
              </a:lnSpc>
              <a:spcAft>
                <a:spcPts val="630"/>
              </a:spcAft>
            </a:pPr>
            <a:r>
              <a:rPr 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방어 메커니즘: </a:t>
            </a:r>
            <a:r>
              <a:rPr 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WAF</a:t>
            </a:r>
            <a:r>
              <a:rPr lang="ko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가 </a:t>
            </a:r>
            <a:r>
              <a:rPr 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SQL </a:t>
            </a:r>
            <a:r>
              <a:rPr lang="ko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구문 패턴을 실시간 탐지</a:t>
            </a:r>
          </a:p>
          <a:p>
            <a:pPr marL="198642" indent="-228600">
              <a:lnSpc>
                <a:spcPct val="120000"/>
              </a:lnSpc>
            </a:pPr>
            <a:r>
              <a:rPr 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방어 결</a:t>
            </a:r>
            <a:r>
              <a:rPr lang="ko-KR" alt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</a:t>
            </a:r>
            <a:r>
              <a:rPr lang="en-US" altLang="ko-KR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:</a:t>
            </a:r>
            <a:r>
              <a:rPr lang="en-US" sz="24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403 </a:t>
            </a:r>
            <a:r>
              <a:rPr 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Forbidden </a:t>
            </a:r>
            <a:r>
              <a:rPr lang="ko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응답으로 공격 요청 차단 성공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497845-F13E-56AE-350B-BEC8E5736936}"/>
              </a:ext>
            </a:extLst>
          </p:cNvPr>
          <p:cNvSpPr/>
          <p:nvPr/>
        </p:nvSpPr>
        <p:spPr>
          <a:xfrm>
            <a:off x="403933" y="381739"/>
            <a:ext cx="6427433" cy="4216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공격 시나리오 </a:t>
            </a:r>
            <a:r>
              <a:rPr lang="en-US" altLang="ko" sz="3100" b="1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</a:t>
            </a:r>
            <a:r>
              <a:rPr lang="ko" sz="3100" b="1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" sz="3100" b="1" dirty="0">
                <a:solidFill>
                  <a:srgbClr val="0F6FB6"/>
                </a:solidFill>
                <a:latin typeface="+mj-lt"/>
                <a:ea typeface="KoPub돋움체 Bold" panose="02020603020101020101" pitchFamily="18" charset="-127"/>
              </a:rPr>
              <a:t>–</a:t>
            </a:r>
            <a:r>
              <a:rPr lang="ko" sz="3100" b="1" dirty="0">
                <a:solidFill>
                  <a:srgbClr val="0F6FB6"/>
                </a:solidFill>
                <a:latin typeface="+mj-lt"/>
                <a:ea typeface="KoPub돋움체 Bold" panose="02020603020101020101" pitchFamily="18" charset="-127"/>
              </a:rPr>
              <a:t> </a:t>
            </a:r>
            <a:r>
              <a:rPr lang="en-US" altLang="ko" sz="3100" b="1" dirty="0">
                <a:solidFill>
                  <a:srgbClr val="0F6FB6"/>
                </a:solidFill>
                <a:latin typeface="+mj-lt"/>
                <a:ea typeface="KoPub돋움체 Bold" panose="02020603020101020101" pitchFamily="18" charset="-127"/>
              </a:rPr>
              <a:t>SQL</a:t>
            </a:r>
            <a:r>
              <a:rPr lang="en-US" sz="3100" b="1" dirty="0">
                <a:solidFill>
                  <a:srgbClr val="0F6FB6"/>
                </a:solidFill>
                <a:latin typeface="+mj-lt"/>
                <a:ea typeface="KoPub돋움체 Bold" panose="02020603020101020101" pitchFamily="18" charset="-127"/>
              </a:rPr>
              <a:t> </a:t>
            </a:r>
            <a:r>
              <a:rPr lang="ko-KR" altLang="en-US" sz="3100" b="1" dirty="0" err="1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인젝션</a:t>
            </a:r>
            <a:endParaRPr lang="ko" sz="3100" dirty="0">
              <a:solidFill>
                <a:srgbClr val="0F6FB6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CC71710-B7B4-285D-C581-D54E33926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774" y="1996225"/>
            <a:ext cx="5970715" cy="394093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133E01C8-DB4E-4D98-4F28-47360C7DBE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509587" y="471487"/>
            <a:ext cx="5586413" cy="43338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3600" b="1" dirty="0">
                <a:solidFill>
                  <a:srgbClr val="051C5D"/>
                </a:solidFill>
                <a:latin typeface="+mj-lt"/>
              </a:rPr>
              <a:t>WAF</a:t>
            </a:r>
            <a:r>
              <a:rPr lang="en-US" sz="3100" b="1" dirty="0">
                <a:solidFill>
                  <a:srgbClr val="051C5D"/>
                </a:solidFill>
                <a:latin typeface="+mj-lt"/>
              </a:rPr>
              <a:t> </a:t>
            </a:r>
            <a:r>
              <a:rPr lang="ko-KR" altLang="en-US" sz="3100" b="1" dirty="0">
                <a:solidFill>
                  <a:srgbClr val="051C5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효용성 검증 결과 및 </a:t>
            </a:r>
            <a:r>
              <a:rPr lang="ko-KR" altLang="en-US" sz="3100" b="1" dirty="0" err="1">
                <a:solidFill>
                  <a:srgbClr val="051C5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시큐어</a:t>
            </a:r>
            <a:r>
              <a:rPr lang="ko-KR" altLang="en-US" sz="3100" b="1" dirty="0">
                <a:solidFill>
                  <a:srgbClr val="051C5D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코딩</a:t>
            </a:r>
            <a:endParaRPr lang="ko" sz="3100" dirty="0">
              <a:solidFill>
                <a:srgbClr val="051C5D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3035841"/>
              </p:ext>
            </p:extLst>
          </p:nvPr>
        </p:nvGraphicFramePr>
        <p:xfrm>
          <a:off x="509587" y="2094896"/>
          <a:ext cx="5376862" cy="2743200"/>
        </p:xfrm>
        <a:graphic>
          <a:graphicData uri="http://schemas.openxmlformats.org/drawingml/2006/table">
            <a:tbl>
              <a:tblPr/>
              <a:tblGrid>
                <a:gridCol w="1900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indent="0" algn="ctr"/>
                      <a:r>
                        <a:rPr lang="ko" sz="180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공격유형</a:t>
                      </a:r>
                    </a:p>
                  </a:txBody>
                  <a:tcPr marL="0" marR="0" marT="0" marB="0" anchor="ctr">
                    <a:solidFill>
                      <a:srgbClr val="021B4D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+mj-lt"/>
                          <a:ea typeface="KoPub돋움체 Bold" panose="02020603020101020101" pitchFamily="18" charset="-127"/>
                        </a:rPr>
                        <a:t>WAF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r>
                        <a:rPr lang="ko" sz="180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적</a:t>
                      </a:r>
                      <a:r>
                        <a:rPr lang="ko-KR" altLang="en-US" sz="180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용 전</a:t>
                      </a:r>
                      <a:endParaRPr lang="ko" sz="1800" dirty="0">
                        <a:solidFill>
                          <a:srgbClr val="FFFFFF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0" marR="0" marT="0" marB="0" anchor="ctr">
                    <a:solidFill>
                      <a:srgbClr val="021A4B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+mj-lt"/>
                          <a:ea typeface="KoPub돋움체 Bold" panose="02020603020101020101" pitchFamily="18" charset="-127"/>
                        </a:rPr>
                        <a:t>WAF</a:t>
                      </a: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</a:t>
                      </a:r>
                      <a:r>
                        <a:rPr lang="ko" sz="180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적</a:t>
                      </a:r>
                      <a:r>
                        <a:rPr lang="ko-KR" altLang="en-US" sz="1800" dirty="0">
                          <a:solidFill>
                            <a:srgbClr val="FFFFFF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용 후</a:t>
                      </a:r>
                      <a:endParaRPr lang="ko" sz="1800" dirty="0">
                        <a:solidFill>
                          <a:srgbClr val="FFFFFF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0" marR="0" marT="0" marB="0" anchor="ctr">
                    <a:solidFill>
                      <a:srgbClr val="02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indent="0" algn="ctr"/>
                      <a:r>
                        <a:rPr lang="en-US" sz="2400" b="1" dirty="0">
                          <a:latin typeface="+mj-lt"/>
                        </a:rPr>
                        <a:t>SQL Injection</a:t>
                      </a:r>
                    </a:p>
                    <a:p>
                      <a:pPr indent="0" algn="ctr"/>
                      <a:r>
                        <a:rPr lang="en-US" sz="1800" b="1" dirty="0">
                          <a:latin typeface="+mj-lt"/>
                        </a:rPr>
                        <a:t>:  </a:t>
                      </a:r>
                      <a:r>
                        <a:rPr lang="ko-KR" altLang="en-US" sz="1800" b="1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공격 성공</a:t>
                      </a:r>
                      <a:endParaRPr lang="en-US" sz="1600" b="1" dirty="0"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altLang="ko-KR" sz="1600" b="1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-&gt;</a:t>
                      </a:r>
                      <a:endParaRPr lang="ko" sz="1600" b="1" dirty="0"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0" marR="0" marT="0" marB="0" anchor="ctr">
                    <a:solidFill>
                      <a:srgbClr val="B5B5B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ko" sz="16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403 </a:t>
                      </a:r>
                      <a:r>
                        <a:rPr lang="en-US" sz="16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Forbidden </a:t>
                      </a:r>
                      <a:r>
                        <a:rPr lang="ko" sz="16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차단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indent="0" algn="ctr"/>
                      <a:r>
                        <a:rPr lang="en-US" sz="2400" b="1" dirty="0">
                          <a:latin typeface="+mj-lt"/>
                          <a:ea typeface="KoPub돋움체 Bold" panose="02020603020101020101" pitchFamily="18" charset="-127"/>
                        </a:rPr>
                        <a:t>XSS</a:t>
                      </a:r>
                      <a:r>
                        <a:rPr lang="en-US" sz="16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: </a:t>
                      </a:r>
                      <a:r>
                        <a:rPr lang="ko" sz="18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공</a:t>
                      </a:r>
                      <a:r>
                        <a:rPr lang="ko-KR" altLang="en-US" sz="18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격</a:t>
                      </a:r>
                      <a:r>
                        <a:rPr lang="ko" sz="18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 성공</a:t>
                      </a:r>
                      <a:endParaRPr lang="ko" sz="1600" dirty="0"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sz="1600" b="1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-&gt;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ko" sz="16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403 </a:t>
                      </a:r>
                      <a:r>
                        <a:rPr lang="en-US" sz="16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Forbidden </a:t>
                      </a:r>
                      <a:r>
                        <a:rPr lang="ko" sz="16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차단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indent="0" algn="ctr"/>
                      <a:r>
                        <a:rPr lang="en-US" sz="2400" b="1" dirty="0">
                          <a:latin typeface="+mj-lt"/>
                          <a:ea typeface="KoPub돋움체 Bold" panose="02020603020101020101" pitchFamily="18" charset="-127"/>
                        </a:rPr>
                        <a:t>SSRF</a:t>
                      </a:r>
                      <a:r>
                        <a:rPr lang="en-US" sz="16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: </a:t>
                      </a:r>
                      <a:r>
                        <a:rPr lang="ko" sz="18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공격 성공</a:t>
                      </a:r>
                      <a:endParaRPr lang="ko" sz="1600" dirty="0"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en-US" altLang="ko" sz="1600" b="1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-&gt;</a:t>
                      </a:r>
                      <a:endParaRPr lang="ko" sz="1600" b="1" dirty="0">
                        <a:latin typeface="KoPub돋움체 Bold" panose="02020603020101020101" pitchFamily="18" charset="-127"/>
                        <a:ea typeface="KoPub돋움체 Bold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indent="0" algn="ctr"/>
                      <a:r>
                        <a:rPr lang="ko" sz="16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403 </a:t>
                      </a:r>
                      <a:r>
                        <a:rPr lang="en-US" sz="16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Forbidden </a:t>
                      </a:r>
                      <a:r>
                        <a:rPr lang="ko" sz="1600" dirty="0"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</a:rPr>
                        <a:t>차단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7771425" y="1506991"/>
            <a:ext cx="2652713" cy="377848"/>
          </a:xfrm>
          <a:prstGeom prst="rect">
            <a:avLst/>
          </a:prstGeom>
          <a:solidFill>
            <a:srgbClr val="002060"/>
          </a:solidFill>
        </p:spPr>
        <p:txBody>
          <a:bodyPr wrap="none" lIns="0" tIns="0" rIns="0" bIns="0">
            <a:noAutofit/>
          </a:bodyPr>
          <a:lstStyle/>
          <a:p>
            <a:pPr indent="0"/>
            <a:r>
              <a:rPr lang="ko-KR" altLang="en-US" sz="2400" dirty="0" err="1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시큐어</a:t>
            </a:r>
            <a:r>
              <a:rPr lang="ko-KR" altLang="en-US" sz="24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코딩 권장 사항</a:t>
            </a:r>
            <a:endParaRPr lang="ko" sz="2400" dirty="0"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3716B2-6D91-D6D4-21F0-C5D3EB14E457}"/>
              </a:ext>
            </a:extLst>
          </p:cNvPr>
          <p:cNvSpPr txBox="1"/>
          <p:nvPr/>
        </p:nvSpPr>
        <p:spPr>
          <a:xfrm>
            <a:off x="6550851" y="1884839"/>
            <a:ext cx="5376862" cy="3696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WAF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는 알려진 웹 취약점에 대한 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차 방어선으로 효과적  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애플리케이션 코드 레벨에서 보안 강화 필요 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Prepared Statement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사용으로 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SQL injection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대응</a:t>
            </a:r>
          </a:p>
          <a:p>
            <a:pPr>
              <a:lnSpc>
                <a:spcPct val="20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• </a:t>
            </a:r>
            <a:r>
              <a:rPr lang="ko-KR" altLang="en-US" sz="20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입력값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검증 및 </a:t>
            </a:r>
            <a:r>
              <a:rPr lang="ko-KR" altLang="en-US" sz="2000" dirty="0" err="1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출력값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인코딩으로 </a:t>
            </a: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XSS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방지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766C201D-58D7-641C-6301-27E03FDF0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3A4784-3EA5-6F50-B14C-A3519DCA18B2}"/>
              </a:ext>
            </a:extLst>
          </p:cNvPr>
          <p:cNvSpPr/>
          <p:nvPr/>
        </p:nvSpPr>
        <p:spPr>
          <a:xfrm>
            <a:off x="403933" y="381739"/>
            <a:ext cx="6427433" cy="4216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-KR" altLang="en-US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결론 및 핵심 성과</a:t>
            </a:r>
            <a:endParaRPr lang="ko" sz="3100" dirty="0">
              <a:solidFill>
                <a:srgbClr val="0F6FB6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1A8D120-4E1D-E94A-2346-5A79CB7343A0}"/>
              </a:ext>
            </a:extLst>
          </p:cNvPr>
          <p:cNvSpPr/>
          <p:nvPr/>
        </p:nvSpPr>
        <p:spPr>
          <a:xfrm>
            <a:off x="721217" y="1545465"/>
            <a:ext cx="4945487" cy="1712891"/>
          </a:xfrm>
          <a:prstGeom prst="roundRect">
            <a:avLst/>
          </a:prstGeom>
          <a:solidFill>
            <a:srgbClr val="B8D7E9">
              <a:alpha val="32000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6520998-96A7-318D-C4E4-A21E3BB95F60}"/>
              </a:ext>
            </a:extLst>
          </p:cNvPr>
          <p:cNvSpPr/>
          <p:nvPr/>
        </p:nvSpPr>
        <p:spPr>
          <a:xfrm>
            <a:off x="6526884" y="1545464"/>
            <a:ext cx="4945487" cy="1712891"/>
          </a:xfrm>
          <a:prstGeom prst="roundRect">
            <a:avLst/>
          </a:prstGeom>
          <a:solidFill>
            <a:srgbClr val="B8D7E9">
              <a:alpha val="32000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5939405-93A2-B954-6B58-142E8801F7AF}"/>
              </a:ext>
            </a:extLst>
          </p:cNvPr>
          <p:cNvSpPr/>
          <p:nvPr/>
        </p:nvSpPr>
        <p:spPr>
          <a:xfrm>
            <a:off x="721217" y="3599645"/>
            <a:ext cx="4945487" cy="1712891"/>
          </a:xfrm>
          <a:prstGeom prst="roundRect">
            <a:avLst/>
          </a:prstGeom>
          <a:solidFill>
            <a:srgbClr val="B8D7E9">
              <a:alpha val="32000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AF256F1-F982-6B03-9E78-4BFBF2A48EDF}"/>
              </a:ext>
            </a:extLst>
          </p:cNvPr>
          <p:cNvSpPr/>
          <p:nvPr/>
        </p:nvSpPr>
        <p:spPr>
          <a:xfrm>
            <a:off x="6526885" y="3599644"/>
            <a:ext cx="4945486" cy="1712891"/>
          </a:xfrm>
          <a:prstGeom prst="roundRect">
            <a:avLst/>
          </a:prstGeom>
          <a:solidFill>
            <a:srgbClr val="B8D7E9">
              <a:alpha val="32000"/>
            </a:srgbClr>
          </a:solidFill>
          <a:ln>
            <a:solidFill>
              <a:srgbClr val="4F81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D1D28F6-D354-57AE-B823-67A4EBF880EF}"/>
              </a:ext>
            </a:extLst>
          </p:cNvPr>
          <p:cNvSpPr/>
          <p:nvPr/>
        </p:nvSpPr>
        <p:spPr>
          <a:xfrm>
            <a:off x="721217" y="5653824"/>
            <a:ext cx="10751154" cy="822437"/>
          </a:xfrm>
          <a:prstGeom prst="roundRect">
            <a:avLst/>
          </a:prstGeom>
          <a:solidFill>
            <a:schemeClr val="bg1">
              <a:lumMod val="8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67772F-1E21-A511-35AF-669D0BF07C15}"/>
              </a:ext>
            </a:extLst>
          </p:cNvPr>
          <p:cNvSpPr txBox="1"/>
          <p:nvPr/>
        </p:nvSpPr>
        <p:spPr>
          <a:xfrm>
            <a:off x="965915" y="1634812"/>
            <a:ext cx="4456090" cy="1426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ID </a:t>
            </a: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및 액세스 관리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• RBAC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을 통한 최소 권한 원칙 검증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•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사용자 정의 역할 및 </a:t>
            </a:r>
            <a:r>
              <a:rPr lang="en-US" altLang="ko-KR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Keyless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인증 구현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4208C1-B47D-3B2E-7417-A4C82F2DB689}"/>
              </a:ext>
            </a:extLst>
          </p:cNvPr>
          <p:cNvSpPr txBox="1"/>
          <p:nvPr/>
        </p:nvSpPr>
        <p:spPr>
          <a:xfrm>
            <a:off x="6629915" y="1630778"/>
            <a:ext cx="4945487" cy="1426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플랫폼 보호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• Hub-Spoke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기반의 네트워크 격리 아키텍처</a:t>
            </a:r>
            <a:endParaRPr lang="en-US" altLang="ko-KR" sz="20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• WAF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및 </a:t>
            </a:r>
            <a:r>
              <a:rPr lang="en-US" altLang="ko-KR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DDoS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방어 체계 확립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243A95-D870-FF05-3F5E-E5EDADE9DE68}"/>
              </a:ext>
            </a:extLst>
          </p:cNvPr>
          <p:cNvSpPr txBox="1"/>
          <p:nvPr/>
        </p:nvSpPr>
        <p:spPr>
          <a:xfrm>
            <a:off x="6771582" y="3721158"/>
            <a:ext cx="4456090" cy="1426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보안 운영 및 관제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•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중앙 </a:t>
            </a:r>
            <a:r>
              <a:rPr lang="ko-KR" altLang="en-US" sz="2000" dirty="0" err="1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집중식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로그 수집 및 분석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• SIEM/CSPM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기반의 가시성 확보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18774FC-8D9F-360A-A8A0-52BCFE0FD8FE}"/>
              </a:ext>
            </a:extLst>
          </p:cNvPr>
          <p:cNvSpPr txBox="1"/>
          <p:nvPr/>
        </p:nvSpPr>
        <p:spPr>
          <a:xfrm>
            <a:off x="965914" y="3713167"/>
            <a:ext cx="4456090" cy="1426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데이터 및 애플리케이션 보호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•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암호화 및 키 관리 체제 구축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• </a:t>
            </a:r>
            <a:r>
              <a:rPr lang="ko-KR" altLang="en-US" sz="2000" dirty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저장 데이터 암호화 및 감사 로그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7C622B-2D47-CF74-C488-2B4B7D9E05B8}"/>
              </a:ext>
            </a:extLst>
          </p:cNvPr>
          <p:cNvSpPr txBox="1"/>
          <p:nvPr/>
        </p:nvSpPr>
        <p:spPr>
          <a:xfrm>
            <a:off x="965914" y="5695710"/>
            <a:ext cx="10122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한계</a:t>
            </a:r>
            <a:r>
              <a:rPr lang="en-US" altLang="ko-KR" dirty="0"/>
              <a:t>: </a:t>
            </a:r>
            <a:r>
              <a:rPr lang="ko-KR" altLang="en-US" dirty="0"/>
              <a:t>라이선스 제한으로 일부 고급 기능 </a:t>
            </a:r>
            <a:r>
              <a:rPr lang="en-US" altLang="ko-KR" dirty="0"/>
              <a:t>(PIM, FIM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 err="1"/>
              <a:t>미구현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CF4FEF-CA58-F749-9339-ECC6FFD6118B}"/>
              </a:ext>
            </a:extLst>
          </p:cNvPr>
          <p:cNvSpPr txBox="1"/>
          <p:nvPr/>
        </p:nvSpPr>
        <p:spPr>
          <a:xfrm>
            <a:off x="965913" y="6036998"/>
            <a:ext cx="10122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대안</a:t>
            </a:r>
            <a:r>
              <a:rPr lang="en-US" altLang="ko-KR" dirty="0"/>
              <a:t>: Azure Policy </a:t>
            </a:r>
            <a:r>
              <a:rPr lang="ko-KR" altLang="en-US" dirty="0"/>
              <a:t>및 </a:t>
            </a:r>
            <a:r>
              <a:rPr lang="en-US" altLang="ko-KR" dirty="0"/>
              <a:t>NSG/</a:t>
            </a:r>
            <a:r>
              <a:rPr lang="ko-KR" altLang="en-US" dirty="0"/>
              <a:t>방화벽 정책 활용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99DA28E-678F-83C4-A51F-7D1F97DE4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588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93A4784-3EA5-6F50-B14C-A3519DCA18B2}"/>
              </a:ext>
            </a:extLst>
          </p:cNvPr>
          <p:cNvSpPr/>
          <p:nvPr/>
        </p:nvSpPr>
        <p:spPr>
          <a:xfrm>
            <a:off x="5259268" y="3099182"/>
            <a:ext cx="1901385" cy="42169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indent="0"/>
            <a:r>
              <a:rPr lang="ko-KR" altLang="en-US" sz="3100" dirty="0">
                <a:solidFill>
                  <a:srgbClr val="0F6FB6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감사합니다</a:t>
            </a:r>
            <a:endParaRPr lang="ko" sz="3100" dirty="0">
              <a:solidFill>
                <a:srgbClr val="0F6FB6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2719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1176</Words>
  <Application>Microsoft Office PowerPoint</Application>
  <PresentationFormat>사용자 지정</PresentationFormat>
  <Paragraphs>175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KoPub돋움체 Bold</vt:lpstr>
      <vt:lpstr>KoPub돋움체 Light</vt:lpstr>
      <vt:lpstr>KoPub돋움체 Medium</vt:lpstr>
      <vt:lpstr>나눔고딕</vt:lpstr>
      <vt:lpstr>맑은 고딕</vt:lpstr>
      <vt:lpstr>Batang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HA YOUNG BAE</cp:lastModifiedBy>
  <cp:revision>62</cp:revision>
  <dcterms:modified xsi:type="dcterms:W3CDTF">2025-12-15T06:03:14Z</dcterms:modified>
</cp:coreProperties>
</file>